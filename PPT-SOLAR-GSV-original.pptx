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80" r:id="rId2"/>
    <p:sldId id="258" r:id="rId3"/>
    <p:sldId id="516" r:id="rId4"/>
    <p:sldId id="272" r:id="rId5"/>
    <p:sldId id="410" r:id="rId6"/>
    <p:sldId id="412" r:id="rId7"/>
    <p:sldId id="413" r:id="rId8"/>
    <p:sldId id="414" r:id="rId9"/>
    <p:sldId id="415" r:id="rId10"/>
    <p:sldId id="416" r:id="rId11"/>
    <p:sldId id="418" r:id="rId12"/>
    <p:sldId id="419" r:id="rId13"/>
    <p:sldId id="502" r:id="rId14"/>
    <p:sldId id="503" r:id="rId15"/>
    <p:sldId id="504" r:id="rId16"/>
    <p:sldId id="422" r:id="rId17"/>
    <p:sldId id="256" r:id="rId18"/>
    <p:sldId id="510" r:id="rId19"/>
    <p:sldId id="517" r:id="rId20"/>
    <p:sldId id="518" r:id="rId21"/>
    <p:sldId id="519" r:id="rId22"/>
    <p:sldId id="507" r:id="rId23"/>
  </p:sldIdLst>
  <p:sldSz cx="10795000" cy="5765800"/>
  <p:notesSz cx="10795000" cy="5765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90" autoAdjust="0"/>
    <p:restoredTop sz="94660"/>
  </p:normalViewPr>
  <p:slideViewPr>
    <p:cSldViewPr>
      <p:cViewPr>
        <p:scale>
          <a:sx n="75" d="100"/>
          <a:sy n="75" d="100"/>
        </p:scale>
        <p:origin x="288" y="-1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G:\Unidades%20compartidas\COMERCIAL\8.%20COTIZACIONES\3.%20APUS's%20Y%20FLUJOS%20DE%20CAJA\FLUJOS_DE_CAJA_SOLAR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G:\Unidades%20compartidas\COMERCIAL\8.%20COTIZACIONES\3.%20APUS's%20Y%20FLUJOS%20DE%20CAJA\FLUJOS_DE_CAJA_SOLAR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G:\Unidades%20compartidas\COMERCIAL\8.%20COTIZACIONES\3.%20APUS's%20Y%20FLUJOS%20DE%20CAJA\FLUJOS_DE_CAJA_SOLAR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CO" dirty="0"/>
              <a:t>FLUJO DE CAJA LIBRE - ACUMULADO</a:t>
            </a:r>
          </a:p>
        </c:rich>
      </c:tx>
      <c:layout>
        <c:manualLayout>
          <c:xMode val="edge"/>
          <c:yMode val="edge"/>
          <c:x val="0.32793825831095258"/>
          <c:y val="1.9917967771316637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1224849244533981"/>
          <c:y val="0.16914314706243302"/>
          <c:w val="0.8682519230714224"/>
          <c:h val="0.7454840517067307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B050"/>
            </a:solidFill>
          </c:spPr>
          <c:invertIfNegative val="0"/>
          <c:dLbls>
            <c:dLbl>
              <c:idx val="2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5D-409D-8E99-F92E5904BD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'FLUJO DE CAJA PAGO DIRECTO '!$D$31:$AB$31</c:f>
              <c:strCache>
                <c:ptCount val="25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  <c:pt idx="3">
                  <c:v>Año 4</c:v>
                </c:pt>
                <c:pt idx="4">
                  <c:v>Año 5</c:v>
                </c:pt>
                <c:pt idx="5">
                  <c:v>Año 6</c:v>
                </c:pt>
                <c:pt idx="6">
                  <c:v>Año 7</c:v>
                </c:pt>
                <c:pt idx="7">
                  <c:v>Año 8</c:v>
                </c:pt>
                <c:pt idx="8">
                  <c:v>Año 9</c:v>
                </c:pt>
                <c:pt idx="9">
                  <c:v>Año 10</c:v>
                </c:pt>
                <c:pt idx="10">
                  <c:v>Año 11</c:v>
                </c:pt>
                <c:pt idx="11">
                  <c:v>Año 12</c:v>
                </c:pt>
                <c:pt idx="12">
                  <c:v>Año 13</c:v>
                </c:pt>
                <c:pt idx="13">
                  <c:v>Año 14</c:v>
                </c:pt>
                <c:pt idx="14">
                  <c:v>Año 15</c:v>
                </c:pt>
                <c:pt idx="15">
                  <c:v>Año 16</c:v>
                </c:pt>
                <c:pt idx="16">
                  <c:v>Año 17</c:v>
                </c:pt>
                <c:pt idx="17">
                  <c:v>Año 18</c:v>
                </c:pt>
                <c:pt idx="18">
                  <c:v>Año 19</c:v>
                </c:pt>
                <c:pt idx="19">
                  <c:v>Año 20</c:v>
                </c:pt>
                <c:pt idx="20">
                  <c:v>Año 21</c:v>
                </c:pt>
                <c:pt idx="21">
                  <c:v>Año 22</c:v>
                </c:pt>
                <c:pt idx="22">
                  <c:v>Año 23</c:v>
                </c:pt>
                <c:pt idx="23">
                  <c:v>Año 24</c:v>
                </c:pt>
                <c:pt idx="24">
                  <c:v>Año 25</c:v>
                </c:pt>
              </c:strCache>
            </c:strRef>
          </c:cat>
          <c:val>
            <c:numRef>
              <c:f>'FLUJO DE CAJA PAGO DIRECTO '!$D$33:$AB$33</c:f>
              <c:numCache>
                <c:formatCode>_-"$"\ * #,##0_-;\-"$"\ * #,##0_-;_-"$"\ * "-"_-;_-@_-</c:formatCode>
                <c:ptCount val="25"/>
                <c:pt idx="0" formatCode="_-[$$-240A]* #,##0_-;\-[$$-240A]* #,##0_-;_-[$$-240A]* &quot;-&quot;_-;_-@_-">
                  <c:v>-48539909.800000004</c:v>
                </c:pt>
                <c:pt idx="1">
                  <c:v>-24484872.352200005</c:v>
                </c:pt>
                <c:pt idx="2">
                  <c:v>1898291.7489599921</c:v>
                </c:pt>
                <c:pt idx="3">
                  <c:v>30831532.45967399</c:v>
                </c:pt>
                <c:pt idx="4">
                  <c:v>62557752.210841186</c:v>
                </c:pt>
                <c:pt idx="5">
                  <c:v>97342769.09094508</c:v>
                </c:pt>
                <c:pt idx="6">
                  <c:v>135477462.75013635</c:v>
                </c:pt>
                <c:pt idx="7">
                  <c:v>177280119.91840017</c:v>
                </c:pt>
                <c:pt idx="8">
                  <c:v>223098997.98107633</c:v>
                </c:pt>
                <c:pt idx="9">
                  <c:v>273315126.74648768</c:v>
                </c:pt>
                <c:pt idx="10">
                  <c:v>328345370.38573372</c:v>
                </c:pt>
                <c:pt idx="11">
                  <c:v>388645773.53766549</c:v>
                </c:pt>
                <c:pt idx="12">
                  <c:v>454715217.76775265</c:v>
                </c:pt>
                <c:pt idx="13">
                  <c:v>527099416.96439832</c:v>
                </c:pt>
                <c:pt idx="14">
                  <c:v>606395282.86811924</c:v>
                </c:pt>
                <c:pt idx="15">
                  <c:v>693255694.77734518</c:v>
                </c:pt>
                <c:pt idx="16">
                  <c:v>788394710.5805701</c:v>
                </c:pt>
                <c:pt idx="17">
                  <c:v>892593259.65125334</c:v>
                </c:pt>
                <c:pt idx="18">
                  <c:v>1006705361.8342936</c:v>
                </c:pt>
                <c:pt idx="19">
                  <c:v>1131664920.7783668</c:v>
                </c:pt>
                <c:pt idx="20">
                  <c:v>1268493144.2566061</c:v>
                </c:pt>
                <c:pt idx="21">
                  <c:v>1418306648.9012985</c:v>
                </c:pt>
                <c:pt idx="22">
                  <c:v>1582326311.9915919</c:v>
                </c:pt>
                <c:pt idx="23">
                  <c:v>1761886938.614831</c:v>
                </c:pt>
                <c:pt idx="24">
                  <c:v>1958447818.7136068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D-409D-8E99-F92E5904BD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6767232"/>
        <c:axId val="189275456"/>
      </c:barChart>
      <c:catAx>
        <c:axId val="2767672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CO"/>
          </a:p>
        </c:txPr>
        <c:crossAx val="189275456"/>
        <c:crosses val="autoZero"/>
        <c:auto val="0"/>
        <c:lblAlgn val="ctr"/>
        <c:lblOffset val="100"/>
        <c:noMultiLvlLbl val="0"/>
      </c:catAx>
      <c:valAx>
        <c:axId val="189275456"/>
        <c:scaling>
          <c:orientation val="minMax"/>
        </c:scaling>
        <c:delete val="0"/>
        <c:axPos val="l"/>
        <c:majorGridlines/>
        <c:numFmt formatCode="_-[$$-240A]* #,##0_-;\-[$$-240A]* #,##0_-;_-[$$-240A]* &quot;-&quot;_-;_-@_-" sourceLinked="1"/>
        <c:majorTickMark val="out"/>
        <c:minorTickMark val="none"/>
        <c:tickLblPos val="nextTo"/>
        <c:crossAx val="276767232"/>
        <c:crosses val="autoZero"/>
        <c:crossBetween val="between"/>
        <c:dispUnits>
          <c:builtInUnit val="millions"/>
          <c:dispUnitsLbl/>
        </c:dispUnits>
      </c:valAx>
    </c:plotArea>
    <c:plotVisOnly val="1"/>
    <c:dispBlanksAs val="zero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CO"/>
              <a:t>FLUJO DE CAJA LIBRE - ACUMULADO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9.8178856776812359E-2"/>
          <c:y val="0.13675831978763395"/>
          <c:w val="0.8682519230714224"/>
          <c:h val="0.663891322003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B050"/>
            </a:solidFill>
          </c:spPr>
          <c:invertIfNegative val="0"/>
          <c:dLbls>
            <c:dLbl>
              <c:idx val="2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0DF-479C-A4E9-91DD6DFE125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'FLUJO DE CAJA FINANCIADO'!$D$24:$AB$24</c:f>
              <c:strCache>
                <c:ptCount val="25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  <c:pt idx="3">
                  <c:v>Año 4</c:v>
                </c:pt>
                <c:pt idx="4">
                  <c:v>Año 5</c:v>
                </c:pt>
                <c:pt idx="5">
                  <c:v>Año 6</c:v>
                </c:pt>
                <c:pt idx="6">
                  <c:v>Año 7</c:v>
                </c:pt>
                <c:pt idx="7">
                  <c:v>Año 8</c:v>
                </c:pt>
                <c:pt idx="8">
                  <c:v>Año 9</c:v>
                </c:pt>
                <c:pt idx="9">
                  <c:v>Año 10</c:v>
                </c:pt>
                <c:pt idx="10">
                  <c:v>Año 11</c:v>
                </c:pt>
                <c:pt idx="11">
                  <c:v>Año 12</c:v>
                </c:pt>
                <c:pt idx="12">
                  <c:v>Año 13</c:v>
                </c:pt>
                <c:pt idx="13">
                  <c:v>Año 14</c:v>
                </c:pt>
                <c:pt idx="14">
                  <c:v>Año 15</c:v>
                </c:pt>
                <c:pt idx="15">
                  <c:v>Año 16</c:v>
                </c:pt>
                <c:pt idx="16">
                  <c:v>Año 17</c:v>
                </c:pt>
                <c:pt idx="17">
                  <c:v>Año 18</c:v>
                </c:pt>
                <c:pt idx="18">
                  <c:v>Año 19</c:v>
                </c:pt>
                <c:pt idx="19">
                  <c:v>Año 20</c:v>
                </c:pt>
                <c:pt idx="20">
                  <c:v>Año 21</c:v>
                </c:pt>
                <c:pt idx="21">
                  <c:v>Año 22</c:v>
                </c:pt>
                <c:pt idx="22">
                  <c:v>Año 23</c:v>
                </c:pt>
                <c:pt idx="23">
                  <c:v>Año 24</c:v>
                </c:pt>
                <c:pt idx="24">
                  <c:v>Año 25</c:v>
                </c:pt>
              </c:strCache>
            </c:strRef>
          </c:cat>
          <c:val>
            <c:numRef>
              <c:f>'FLUJO DE CAJA FINANCIADO'!$D$26:$AB$26</c:f>
              <c:numCache>
                <c:formatCode>_-"$"\ * #,##0_-;\-"$"\ * #,##0_-;_-"$"\ * "-"_-;_-@_-</c:formatCode>
                <c:ptCount val="25"/>
                <c:pt idx="0" formatCode="_-[$$-240A]* #,##0_-;\-[$$-240A]* #,##0_-;_-[$$-240A]* &quot;-&quot;_-;_-@_-">
                  <c:v>-1511659.8000000026</c:v>
                </c:pt>
                <c:pt idx="1">
                  <c:v>4693677.6477999948</c:v>
                </c:pt>
                <c:pt idx="2">
                  <c:v>14669541.748959986</c:v>
                </c:pt>
                <c:pt idx="3">
                  <c:v>28637882.459673978</c:v>
                </c:pt>
                <c:pt idx="4">
                  <c:v>46841602.210841171</c:v>
                </c:pt>
                <c:pt idx="5">
                  <c:v>75406269.090945065</c:v>
                </c:pt>
                <c:pt idx="6">
                  <c:v>113540962.75013632</c:v>
                </c:pt>
                <c:pt idx="7">
                  <c:v>155343619.91840011</c:v>
                </c:pt>
                <c:pt idx="8">
                  <c:v>201162497.98107627</c:v>
                </c:pt>
                <c:pt idx="9">
                  <c:v>251378626.74648762</c:v>
                </c:pt>
                <c:pt idx="10">
                  <c:v>306408870.38573366</c:v>
                </c:pt>
                <c:pt idx="11">
                  <c:v>366709273.53766543</c:v>
                </c:pt>
                <c:pt idx="12">
                  <c:v>432778717.76775259</c:v>
                </c:pt>
                <c:pt idx="13">
                  <c:v>505162916.96439826</c:v>
                </c:pt>
                <c:pt idx="14">
                  <c:v>584458782.86811912</c:v>
                </c:pt>
                <c:pt idx="15">
                  <c:v>671319194.77734506</c:v>
                </c:pt>
                <c:pt idx="16">
                  <c:v>766458210.58056998</c:v>
                </c:pt>
                <c:pt idx="17">
                  <c:v>870656759.65125322</c:v>
                </c:pt>
                <c:pt idx="18">
                  <c:v>984768861.83429348</c:v>
                </c:pt>
                <c:pt idx="19">
                  <c:v>1109728420.7783668</c:v>
                </c:pt>
                <c:pt idx="20">
                  <c:v>1246556644.2566061</c:v>
                </c:pt>
                <c:pt idx="21">
                  <c:v>1396370148.9012985</c:v>
                </c:pt>
                <c:pt idx="22">
                  <c:v>1560389811.9915919</c:v>
                </c:pt>
                <c:pt idx="23">
                  <c:v>1739950438.614831</c:v>
                </c:pt>
                <c:pt idx="24">
                  <c:v>1936511318.7136068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DF-479C-A4E9-91DD6DFE12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6767232"/>
        <c:axId val="189275456"/>
      </c:barChart>
      <c:catAx>
        <c:axId val="2767672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CO"/>
          </a:p>
        </c:txPr>
        <c:crossAx val="189275456"/>
        <c:crosses val="autoZero"/>
        <c:auto val="0"/>
        <c:lblAlgn val="ctr"/>
        <c:lblOffset val="100"/>
        <c:noMultiLvlLbl val="0"/>
      </c:catAx>
      <c:valAx>
        <c:axId val="189275456"/>
        <c:scaling>
          <c:orientation val="minMax"/>
        </c:scaling>
        <c:delete val="0"/>
        <c:axPos val="l"/>
        <c:majorGridlines/>
        <c:numFmt formatCode="_-[$$-240A]* #,##0_-;\-[$$-240A]* #,##0_-;_-[$$-240A]* &quot;-&quot;_-;_-@_-" sourceLinked="1"/>
        <c:majorTickMark val="out"/>
        <c:minorTickMark val="none"/>
        <c:tickLblPos val="nextTo"/>
        <c:crossAx val="276767232"/>
        <c:crosses val="autoZero"/>
        <c:crossBetween val="between"/>
        <c:dispUnits>
          <c:builtInUnit val="millions"/>
          <c:dispUnitsLbl/>
        </c:dispUnits>
      </c:valAx>
    </c:plotArea>
    <c:plotVisOnly val="1"/>
    <c:dispBlanksAs val="zero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CO"/>
              <a:t>FLUJO DE CAJA LIBRE - ACUMULADO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224849244533981"/>
          <c:y val="0.18782600026473778"/>
          <c:w val="0.8682519230714224"/>
          <c:h val="0.605372752451756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B050"/>
            </a:solidFill>
          </c:spPr>
          <c:invertIfNegative val="0"/>
          <c:dLbls>
            <c:dLbl>
              <c:idx val="2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ED3-4E1C-9325-31D4EFBA3B6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PPA!$D$24:$AB$24</c:f>
              <c:strCache>
                <c:ptCount val="25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  <c:pt idx="3">
                  <c:v>Año 4</c:v>
                </c:pt>
                <c:pt idx="4">
                  <c:v>Año 5</c:v>
                </c:pt>
                <c:pt idx="5">
                  <c:v>Año 6</c:v>
                </c:pt>
                <c:pt idx="6">
                  <c:v>Año 7</c:v>
                </c:pt>
                <c:pt idx="7">
                  <c:v>Año 8</c:v>
                </c:pt>
                <c:pt idx="8">
                  <c:v>Año 9</c:v>
                </c:pt>
                <c:pt idx="9">
                  <c:v>Año 10</c:v>
                </c:pt>
                <c:pt idx="10">
                  <c:v>Año 11</c:v>
                </c:pt>
                <c:pt idx="11">
                  <c:v>Año 12</c:v>
                </c:pt>
                <c:pt idx="12">
                  <c:v>Año 13</c:v>
                </c:pt>
                <c:pt idx="13">
                  <c:v>Año 14</c:v>
                </c:pt>
                <c:pt idx="14">
                  <c:v>Año 15</c:v>
                </c:pt>
                <c:pt idx="15">
                  <c:v>Año 16</c:v>
                </c:pt>
                <c:pt idx="16">
                  <c:v>Año 17</c:v>
                </c:pt>
                <c:pt idx="17">
                  <c:v>Año 18</c:v>
                </c:pt>
                <c:pt idx="18">
                  <c:v>Año 19</c:v>
                </c:pt>
                <c:pt idx="19">
                  <c:v>Año 20</c:v>
                </c:pt>
                <c:pt idx="20">
                  <c:v>Año 21</c:v>
                </c:pt>
                <c:pt idx="21">
                  <c:v>Año 22</c:v>
                </c:pt>
                <c:pt idx="22">
                  <c:v>Año 23</c:v>
                </c:pt>
                <c:pt idx="23">
                  <c:v>Año 24</c:v>
                </c:pt>
                <c:pt idx="24">
                  <c:v>Año 25</c:v>
                </c:pt>
              </c:strCache>
            </c:strRef>
          </c:cat>
          <c:val>
            <c:numRef>
              <c:f>PPA!$D$26:$AB$26</c:f>
              <c:numCache>
                <c:formatCode>_-"$"\ * #,##0_-;\-"$"\ * #,##0_-;_-"$"\ * "-"_-;_-@_-</c:formatCode>
                <c:ptCount val="25"/>
                <c:pt idx="0" formatCode="_-[$$-240A]* #,##0_-;\-[$$-240A]* #,##0_-;_-[$$-240A]* &quot;-&quot;_-;_-@_-">
                  <c:v>2312018.0399999996</c:v>
                </c:pt>
                <c:pt idx="1">
                  <c:v>7373025.5295599997</c:v>
                </c:pt>
                <c:pt idx="2">
                  <c:v>12912158.349792</c:v>
                </c:pt>
                <c:pt idx="3">
                  <c:v>18974431.491934799</c:v>
                </c:pt>
                <c:pt idx="4">
                  <c:v>25609081.69216824</c:v>
                </c:pt>
                <c:pt idx="5">
                  <c:v>32869961.630689017</c:v>
                </c:pt>
                <c:pt idx="6">
                  <c:v>40815970.753152266</c:v>
                </c:pt>
                <c:pt idx="7">
                  <c:v>49511526.096961275</c:v>
                </c:pt>
                <c:pt idx="8">
                  <c:v>57268201.28684026</c:v>
                </c:pt>
                <c:pt idx="9">
                  <c:v>65833971.596133471</c:v>
                </c:pt>
                <c:pt idx="10">
                  <c:v>120864215.23537955</c:v>
                </c:pt>
                <c:pt idx="11">
                  <c:v>181164618.38731128</c:v>
                </c:pt>
                <c:pt idx="12">
                  <c:v>247234062.61739844</c:v>
                </c:pt>
                <c:pt idx="13">
                  <c:v>319618261.81404412</c:v>
                </c:pt>
                <c:pt idx="14">
                  <c:v>398914127.71776503</c:v>
                </c:pt>
                <c:pt idx="15">
                  <c:v>485774539.62699091</c:v>
                </c:pt>
                <c:pt idx="16">
                  <c:v>580913555.43021584</c:v>
                </c:pt>
                <c:pt idx="17">
                  <c:v>685112104.50089908</c:v>
                </c:pt>
                <c:pt idx="18">
                  <c:v>799224206.68393934</c:v>
                </c:pt>
                <c:pt idx="19">
                  <c:v>924183765.62801266</c:v>
                </c:pt>
                <c:pt idx="20">
                  <c:v>1061011989.106252</c:v>
                </c:pt>
                <c:pt idx="21">
                  <c:v>1210825493.7509444</c:v>
                </c:pt>
                <c:pt idx="22">
                  <c:v>1374845156.8412378</c:v>
                </c:pt>
                <c:pt idx="23">
                  <c:v>1554405783.4644768</c:v>
                </c:pt>
                <c:pt idx="24">
                  <c:v>1750966663.5632527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D3-4E1C-9325-31D4EFBA3B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6767232"/>
        <c:axId val="189275456"/>
      </c:barChart>
      <c:catAx>
        <c:axId val="2767672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CO"/>
          </a:p>
        </c:txPr>
        <c:crossAx val="189275456"/>
        <c:crosses val="autoZero"/>
        <c:auto val="0"/>
        <c:lblAlgn val="ctr"/>
        <c:lblOffset val="100"/>
        <c:noMultiLvlLbl val="0"/>
      </c:catAx>
      <c:valAx>
        <c:axId val="189275456"/>
        <c:scaling>
          <c:orientation val="minMax"/>
        </c:scaling>
        <c:delete val="0"/>
        <c:axPos val="l"/>
        <c:majorGridlines/>
        <c:numFmt formatCode="_-[$$-240A]* #,##0_-;\-[$$-240A]* #,##0_-;_-[$$-240A]* &quot;-&quot;_-;_-@_-" sourceLinked="1"/>
        <c:majorTickMark val="out"/>
        <c:minorTickMark val="none"/>
        <c:tickLblPos val="nextTo"/>
        <c:crossAx val="276767232"/>
        <c:crosses val="autoZero"/>
        <c:crossBetween val="between"/>
        <c:dispUnits>
          <c:builtInUnit val="millions"/>
          <c:dispUnitsLbl/>
        </c:dispUnits>
      </c:valAx>
    </c:plotArea>
    <c:plotVisOnly val="1"/>
    <c:dispBlanksAs val="zero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78363" cy="288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115050" y="0"/>
            <a:ext cx="4676775" cy="288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5D8A4B-A873-4AB5-9920-87574AE12A8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575050" y="720725"/>
            <a:ext cx="3644900" cy="1946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079500" y="2774950"/>
            <a:ext cx="8636000" cy="22701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5476875"/>
            <a:ext cx="4678363" cy="288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115050" y="5476875"/>
            <a:ext cx="4676775" cy="288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EC6BE0-685B-4BCE-9C24-3217CEF28DB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693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C6BE0-685B-4BCE-9C24-3217CEF28D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70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Descripción comercial general de las cuatro modalidades solicitadas. El usuario identifica Fondo ROCASOL como una opción de cero inversión. No se suministraron términos del fondo: confirmar mecanismo de pago, plazo, propiedad y mantenimiento antes de presentar condiciones definitivas. PPA: contrato de compra de energía. Las condiciones concretas de cada modalidad se establecerán en la respectiva oferta o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5288" y="1787398"/>
            <a:ext cx="4593272" cy="12108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10577" y="3228848"/>
            <a:ext cx="3782695" cy="1441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EA6E08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EA6E08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70192" y="1326134"/>
            <a:ext cx="2350674" cy="38054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782982" y="1326134"/>
            <a:ext cx="2350674" cy="38054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EA6E08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49375" y="2174731"/>
            <a:ext cx="8096250" cy="776238"/>
          </a:xfrm>
        </p:spPr>
        <p:txBody>
          <a:bodyPr anchor="b"/>
          <a:lstStyle>
            <a:lvl1pPr algn="ctr">
              <a:defRPr sz="5044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49375" y="3028380"/>
            <a:ext cx="8096250" cy="310534"/>
          </a:xfrm>
        </p:spPr>
        <p:txBody>
          <a:bodyPr/>
          <a:lstStyle>
            <a:lvl1pPr marL="0" indent="0" algn="ctr">
              <a:buNone/>
              <a:defRPr sz="2018"/>
            </a:lvl1pPr>
            <a:lvl2pPr marL="384368" indent="0" algn="ctr">
              <a:buNone/>
              <a:defRPr sz="1681"/>
            </a:lvl2pPr>
            <a:lvl3pPr marL="768736" indent="0" algn="ctr">
              <a:buNone/>
              <a:defRPr sz="1513"/>
            </a:lvl3pPr>
            <a:lvl4pPr marL="1153104" indent="0" algn="ctr">
              <a:buNone/>
              <a:defRPr sz="1345"/>
            </a:lvl4pPr>
            <a:lvl5pPr marL="1537472" indent="0" algn="ctr">
              <a:buNone/>
              <a:defRPr sz="1345"/>
            </a:lvl5pPr>
            <a:lvl6pPr marL="1921840" indent="0" algn="ctr">
              <a:buNone/>
              <a:defRPr sz="1345"/>
            </a:lvl6pPr>
            <a:lvl7pPr marL="2306208" indent="0" algn="ctr">
              <a:buNone/>
              <a:defRPr sz="1345"/>
            </a:lvl7pPr>
            <a:lvl8pPr marL="2690576" indent="0" algn="ctr">
              <a:buNone/>
              <a:defRPr sz="1345"/>
            </a:lvl8pPr>
            <a:lvl9pPr marL="3074944" indent="0" algn="ctr">
              <a:buNone/>
              <a:defRPr sz="1345"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270192" y="5362194"/>
            <a:ext cx="1242885" cy="276999"/>
          </a:xfrm>
        </p:spPr>
        <p:txBody>
          <a:bodyPr/>
          <a:lstStyle/>
          <a:p>
            <a:fld id="{BF799AFA-0085-DA4C-BB2E-44C9FE997620}" type="datetimeFigureOut">
              <a:rPr lang="es-ES_tradnl" smtClean="0"/>
              <a:t>08/10/2026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1837309" y="5362194"/>
            <a:ext cx="1729232" cy="276999"/>
          </a:xfrm>
        </p:spPr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3890772" y="5362194"/>
            <a:ext cx="1242885" cy="276999"/>
          </a:xfrm>
        </p:spPr>
        <p:txBody>
          <a:bodyPr/>
          <a:lstStyle/>
          <a:p>
            <a:fld id="{8729BD26-96BC-B841-B144-4A4510E793E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85138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6647" y="1288161"/>
            <a:ext cx="1678305" cy="646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EA6E08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7595" y="2275558"/>
            <a:ext cx="3541395" cy="1650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837309" y="5362194"/>
            <a:ext cx="1729232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70192" y="5362194"/>
            <a:ext cx="1242885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890772" y="5362194"/>
            <a:ext cx="1242885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newables-online.de/mod/glossary/showentry.php?eid=71210&amp;displayformat=dictionary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enewables-online.de/mod/glossary/showentry.php?eid=67595&amp;displayformat=dictionary" TargetMode="External"/><Relationship Id="rId2" Type="http://schemas.openxmlformats.org/officeDocument/2006/relationships/hyperlink" Target="https://renewables-online.de/mod/glossary/showentry.php?eid=71213&amp;displayformat=dictionary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o hay ninguna descripción de la foto disponible.">
            <a:extLst>
              <a:ext uri="{FF2B5EF4-FFF2-40B4-BE49-F238E27FC236}">
                <a16:creationId xmlns:a16="http://schemas.microsoft.com/office/drawing/2014/main" id="{01D2FE1E-D169-50AF-7E28-C4B43B7CBE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1" b="17959"/>
          <a:stretch/>
        </p:blipFill>
        <p:spPr bwMode="auto">
          <a:xfrm>
            <a:off x="82218" y="0"/>
            <a:ext cx="10794999" cy="576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5662EED-DD7D-4841-B840-5C6C2F3C1EAD}"/>
              </a:ext>
            </a:extLst>
          </p:cNvPr>
          <p:cNvSpPr/>
          <p:nvPr/>
        </p:nvSpPr>
        <p:spPr>
          <a:xfrm>
            <a:off x="477349" y="1655608"/>
            <a:ext cx="9840299" cy="1202078"/>
          </a:xfrm>
          <a:prstGeom prst="rect">
            <a:avLst/>
          </a:prstGeom>
          <a:solidFill>
            <a:schemeClr val="tx1">
              <a:lumMod val="85000"/>
              <a:lumOff val="15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437" dirty="0"/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DFA37B35-F1CB-4518-A9E1-EFA1BDDE3CC9}"/>
              </a:ext>
            </a:extLst>
          </p:cNvPr>
          <p:cNvSpPr txBox="1">
            <a:spLocks/>
          </p:cNvSpPr>
          <p:nvPr/>
        </p:nvSpPr>
        <p:spPr>
          <a:xfrm>
            <a:off x="766773" y="1730030"/>
            <a:ext cx="9261456" cy="1045718"/>
          </a:xfrm>
          <a:prstGeom prst="rect">
            <a:avLst/>
          </a:prstGeom>
        </p:spPr>
        <p:txBody>
          <a:bodyPr vert="horz" lIns="72998" tIns="36499" rIns="72998" bIns="36499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138" marR="4056" algn="just">
              <a:lnSpc>
                <a:spcPct val="100000"/>
              </a:lnSpc>
              <a:spcBef>
                <a:spcPts val="83"/>
              </a:spcBef>
            </a:pPr>
            <a:r>
              <a:rPr lang="es-ES" sz="2279" spc="20" dirty="0">
                <a:solidFill>
                  <a:schemeClr val="bg1"/>
                </a:solidFill>
                <a:latin typeface="Century Gothic"/>
                <a:cs typeface="Century Gothic"/>
              </a:rPr>
              <a:t>Le apostamos al </a:t>
            </a:r>
            <a:r>
              <a:rPr lang="es-ES" sz="2279" b="1" spc="20" dirty="0">
                <a:solidFill>
                  <a:schemeClr val="bg1"/>
                </a:solidFill>
                <a:latin typeface="Century Gothic"/>
                <a:cs typeface="Century Gothic"/>
              </a:rPr>
              <a:t>desarrollo sostenible, </a:t>
            </a:r>
            <a:r>
              <a:rPr lang="es-ES" sz="2279" spc="20" dirty="0">
                <a:solidFill>
                  <a:schemeClr val="bg1"/>
                </a:solidFill>
                <a:latin typeface="Century Gothic"/>
                <a:cs typeface="Century Gothic"/>
              </a:rPr>
              <a:t>brindando</a:t>
            </a:r>
            <a:r>
              <a:rPr lang="es-ES" sz="2279" b="1" spc="20" dirty="0">
                <a:solidFill>
                  <a:schemeClr val="bg1"/>
                </a:solidFill>
                <a:latin typeface="Century Gothic"/>
                <a:cs typeface="Century Gothic"/>
              </a:rPr>
              <a:t> soluciones  </a:t>
            </a:r>
            <a:r>
              <a:rPr lang="es-ES" sz="2279" spc="20" dirty="0">
                <a:solidFill>
                  <a:schemeClr val="bg1"/>
                </a:solidFill>
                <a:latin typeface="Century Gothic"/>
                <a:cs typeface="Century Gothic"/>
              </a:rPr>
              <a:t>en las áreas de la</a:t>
            </a:r>
            <a:r>
              <a:rPr lang="es-ES" sz="2279" b="1" spc="20" dirty="0">
                <a:solidFill>
                  <a:schemeClr val="bg1"/>
                </a:solidFill>
                <a:latin typeface="Century Gothic"/>
                <a:cs typeface="Century Gothic"/>
              </a:rPr>
              <a:t> ingeniería eléctrica, la eficiencia energética y las energías renovables.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F123C05-8E5B-90B5-A827-BA07462FD7F3}"/>
              </a:ext>
            </a:extLst>
          </p:cNvPr>
          <p:cNvSpPr/>
          <p:nvPr/>
        </p:nvSpPr>
        <p:spPr>
          <a:xfrm>
            <a:off x="396900" y="205760"/>
            <a:ext cx="864296" cy="1303236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709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6A9BE4-793F-C771-274F-3E28DDF435D7}"/>
              </a:ext>
            </a:extLst>
          </p:cNvPr>
          <p:cNvPicPr/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78" y="270435"/>
            <a:ext cx="739740" cy="120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506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49" y="0"/>
            <a:ext cx="10792301" cy="576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n 4" descr="Diagrama, Esquemático&#10;&#10;Descripción generada automáticamente">
            <a:extLst>
              <a:ext uri="{FF2B5EF4-FFF2-40B4-BE49-F238E27FC236}">
                <a16:creationId xmlns:a16="http://schemas.microsoft.com/office/drawing/2014/main" id="{DD87620F-E213-4514-8BA1-60C2A98C82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2013"/>
          <a:stretch/>
        </p:blipFill>
        <p:spPr>
          <a:xfrm>
            <a:off x="20" y="1077"/>
            <a:ext cx="10794980" cy="5764723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A35FE1E3-AE63-1C11-D8B4-F0B3879B5C24}"/>
              </a:ext>
            </a:extLst>
          </p:cNvPr>
          <p:cNvSpPr/>
          <p:nvPr/>
        </p:nvSpPr>
        <p:spPr>
          <a:xfrm>
            <a:off x="3949700" y="1435100"/>
            <a:ext cx="2819400" cy="28194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D0FEA22-3EEF-C0AE-4B4A-B6F7EBF63E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100" y="1206500"/>
            <a:ext cx="3276600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Un rebaño de ovejas en una montaña&#10;&#10;Descripción generada automáticamente con confianza media">
            <a:extLst>
              <a:ext uri="{FF2B5EF4-FFF2-40B4-BE49-F238E27FC236}">
                <a16:creationId xmlns:a16="http://schemas.microsoft.com/office/drawing/2014/main" id="{9B8C7865-2D87-48E2-913B-5988B46729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92" b="4"/>
          <a:stretch/>
        </p:blipFill>
        <p:spPr>
          <a:xfrm>
            <a:off x="20" y="10"/>
            <a:ext cx="3598310" cy="288289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048F8BC-89DE-243B-CD34-A779E78F16C5}"/>
              </a:ext>
            </a:extLst>
          </p:cNvPr>
          <p:cNvSpPr/>
          <p:nvPr/>
        </p:nvSpPr>
        <p:spPr>
          <a:xfrm>
            <a:off x="146111" y="130788"/>
            <a:ext cx="907989" cy="1310667"/>
          </a:xfrm>
          <a:prstGeom prst="rect">
            <a:avLst/>
          </a:prstGeom>
          <a:solidFill>
            <a:schemeClr val="bg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6" name="Imagen 15" descr="Imagen de la pantalla de un videojuego&#10;&#10;Descripción generada automáticamente con confianza baja">
            <a:extLst>
              <a:ext uri="{FF2B5EF4-FFF2-40B4-BE49-F238E27FC236}">
                <a16:creationId xmlns:a16="http://schemas.microsoft.com/office/drawing/2014/main" id="{7B2DB6ED-035C-F587-E098-CB572BCB1E5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9" r="4" b="4"/>
          <a:stretch/>
        </p:blipFill>
        <p:spPr>
          <a:xfrm>
            <a:off x="3581093" y="10"/>
            <a:ext cx="3615568" cy="2882890"/>
          </a:xfrm>
          <a:prstGeom prst="rect">
            <a:avLst/>
          </a:prstGeom>
        </p:spPr>
      </p:pic>
      <p:pic>
        <p:nvPicPr>
          <p:cNvPr id="21" name="Imagen 20" descr="Casa de madera en el campo&#10;&#10;Descripción generada automáticamente con confianza media">
            <a:extLst>
              <a:ext uri="{FF2B5EF4-FFF2-40B4-BE49-F238E27FC236}">
                <a16:creationId xmlns:a16="http://schemas.microsoft.com/office/drawing/2014/main" id="{84D3BB90-6116-F524-2BC7-3D2F191282D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3" r="3147" b="4"/>
          <a:stretch/>
        </p:blipFill>
        <p:spPr>
          <a:xfrm>
            <a:off x="7196661" y="10"/>
            <a:ext cx="3598338" cy="2882890"/>
          </a:xfrm>
          <a:prstGeom prst="rect">
            <a:avLst/>
          </a:prstGeom>
        </p:spPr>
      </p:pic>
      <p:pic>
        <p:nvPicPr>
          <p:cNvPr id="20" name="Imagen 19" descr="Imagen que contiene pasto, exterior, panel solar, campo&#10;&#10;Descripción generada automáticamente">
            <a:extLst>
              <a:ext uri="{FF2B5EF4-FFF2-40B4-BE49-F238E27FC236}">
                <a16:creationId xmlns:a16="http://schemas.microsoft.com/office/drawing/2014/main" id="{D185E565-7E9A-9D96-BA37-CC3A00D0FE4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2" r="3" b="3"/>
          <a:stretch/>
        </p:blipFill>
        <p:spPr>
          <a:xfrm>
            <a:off x="20" y="2882900"/>
            <a:ext cx="3594715" cy="2882900"/>
          </a:xfrm>
          <a:prstGeom prst="rect">
            <a:avLst/>
          </a:prstGeom>
        </p:spPr>
      </p:pic>
      <p:pic>
        <p:nvPicPr>
          <p:cNvPr id="19" name="Imagen 18" descr="Imagen que contiene edificio, cama&#10;&#10;Descripción generada automáticamente">
            <a:extLst>
              <a:ext uri="{FF2B5EF4-FFF2-40B4-BE49-F238E27FC236}">
                <a16:creationId xmlns:a16="http://schemas.microsoft.com/office/drawing/2014/main" id="{4725E3E7-5CFE-7BA5-70DA-47ED60D071E7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53" b="3"/>
          <a:stretch/>
        </p:blipFill>
        <p:spPr>
          <a:xfrm>
            <a:off x="3587988" y="2882900"/>
            <a:ext cx="3619023" cy="2882900"/>
          </a:xfrm>
          <a:prstGeom prst="rect">
            <a:avLst/>
          </a:prstGeom>
        </p:spPr>
      </p:pic>
      <p:pic>
        <p:nvPicPr>
          <p:cNvPr id="15" name="Imagen 14" descr="Vista de una ciudad desde lo alto de una montaña&#10;&#10;Descripción generada automáticamente">
            <a:extLst>
              <a:ext uri="{FF2B5EF4-FFF2-40B4-BE49-F238E27FC236}">
                <a16:creationId xmlns:a16="http://schemas.microsoft.com/office/drawing/2014/main" id="{60ED5937-B4FC-5D95-7795-35B00FFD53CB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85" b="3"/>
          <a:stretch/>
        </p:blipFill>
        <p:spPr>
          <a:xfrm>
            <a:off x="7200265" y="2882900"/>
            <a:ext cx="3594735" cy="2882900"/>
          </a:xfrm>
          <a:prstGeom prst="rect">
            <a:avLst/>
          </a:prstGeom>
        </p:spPr>
      </p:pic>
      <p:sp>
        <p:nvSpPr>
          <p:cNvPr id="6" name="1 Título">
            <a:extLst>
              <a:ext uri="{FF2B5EF4-FFF2-40B4-BE49-F238E27FC236}">
                <a16:creationId xmlns:a16="http://schemas.microsoft.com/office/drawing/2014/main" id="{6008B52C-2572-720A-B908-4B733B4DC18D}"/>
              </a:ext>
            </a:extLst>
          </p:cNvPr>
          <p:cNvSpPr txBox="1">
            <a:spLocks/>
          </p:cNvSpPr>
          <p:nvPr/>
        </p:nvSpPr>
        <p:spPr>
          <a:xfrm>
            <a:off x="671479" y="1518818"/>
            <a:ext cx="9452043" cy="1101287"/>
          </a:xfrm>
          <a:prstGeom prst="rect">
            <a:avLst/>
          </a:prstGeom>
        </p:spPr>
        <p:txBody>
          <a:bodyPr vert="horz" lIns="76877" tIns="38439" rIns="76877" bIns="38439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677" marR="4271" algn="just">
              <a:lnSpc>
                <a:spcPct val="100000"/>
              </a:lnSpc>
              <a:spcBef>
                <a:spcPts val="88"/>
              </a:spcBef>
            </a:pPr>
            <a:endParaRPr lang="es-ES" sz="2018" b="1" spc="21" dirty="0">
              <a:solidFill>
                <a:schemeClr val="bg1"/>
              </a:solidFill>
              <a:latin typeface="Century Gothic"/>
              <a:cs typeface="Century Gothic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C8D077-7A9E-C80F-AC2B-FBDDA40EA2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7945" y="-121929"/>
            <a:ext cx="1816100" cy="181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62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896" y="3155173"/>
            <a:ext cx="2913807" cy="2062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s-CO" sz="3100" kern="1200" spc="45" dirty="0">
                <a:solidFill>
                  <a:schemeClr val="tx1"/>
                </a:solidFill>
                <a:latin typeface="+mj-lt"/>
                <a:cs typeface="+mj-cs"/>
              </a:rPr>
              <a:t>Sistemas</a:t>
            </a:r>
            <a:r>
              <a:rPr lang="es-CO" sz="3100" kern="1200" spc="-125" dirty="0">
                <a:solidFill>
                  <a:schemeClr val="tx1"/>
                </a:solidFill>
                <a:latin typeface="+mj-lt"/>
                <a:cs typeface="+mj-cs"/>
              </a:rPr>
              <a:t> </a:t>
            </a:r>
            <a:r>
              <a:rPr lang="es-CO" sz="3100" kern="1200" spc="30" dirty="0">
                <a:solidFill>
                  <a:schemeClr val="tx1"/>
                </a:solidFill>
                <a:latin typeface="+mj-lt"/>
                <a:cs typeface="+mj-cs"/>
              </a:rPr>
              <a:t>Solares Fotovoltaicos</a:t>
            </a:r>
            <a:endParaRPr lang="es-CO" sz="3100" kern="1200" dirty="0">
              <a:solidFill>
                <a:schemeClr val="tx1"/>
              </a:solidFill>
              <a:latin typeface="+mj-lt"/>
              <a:cs typeface="+mj-cs"/>
            </a:endParaRPr>
          </a:p>
        </p:txBody>
      </p:sp>
      <p:pic>
        <p:nvPicPr>
          <p:cNvPr id="1026" name="Picture 2" descr="Como funciona una celda solar - MR WATT Shop">
            <a:extLst>
              <a:ext uri="{FF2B5EF4-FFF2-40B4-BE49-F238E27FC236}">
                <a16:creationId xmlns:a16="http://schemas.microsoft.com/office/drawing/2014/main" id="{DBEC15B6-C37D-4810-891C-60B5E3326A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66" r="-2" b="10553"/>
          <a:stretch/>
        </p:blipFill>
        <p:spPr bwMode="auto">
          <a:xfrm>
            <a:off x="0" y="368300"/>
            <a:ext cx="10794980" cy="311965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2 Marcador de contenido">
            <a:extLst>
              <a:ext uri="{FF2B5EF4-FFF2-40B4-BE49-F238E27FC236}">
                <a16:creationId xmlns:a16="http://schemas.microsoft.com/office/drawing/2014/main" id="{9BC8F4EE-06D8-4827-8EFA-14223DF2F2AC}"/>
              </a:ext>
            </a:extLst>
          </p:cNvPr>
          <p:cNvSpPr txBox="1">
            <a:spLocks/>
          </p:cNvSpPr>
          <p:nvPr/>
        </p:nvSpPr>
        <p:spPr>
          <a:xfrm>
            <a:off x="3739984" y="3340099"/>
            <a:ext cx="6627709" cy="18771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>
              <a:defRPr sz="1100" b="0" i="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CO" sz="1800" dirty="0">
                <a:latin typeface="Century Gothic" panose="020B0502020202020204" pitchFamily="34" charset="0"/>
                <a:cs typeface="+mn-cs"/>
              </a:rPr>
              <a:t>La energía solar fotovoltaica es una fuente de energía ilimitad de origen renovable, se obtiene directamente a partir de la radiación solar mediante un dispositivo semiconductor denominado célula fotovoltaica.</a:t>
            </a:r>
            <a:endParaRPr lang="en-US" sz="150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398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9">
            <a:extLst>
              <a:ext uri="{FF2B5EF4-FFF2-40B4-BE49-F238E27FC236}">
                <a16:creationId xmlns:a16="http://schemas.microsoft.com/office/drawing/2014/main" id="{D5997EA8-5EFC-40CD-A85F-C3C3BC5F9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95000" cy="576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Mapa&#10;&#10;Descripción generada automáticamente">
            <a:extLst>
              <a:ext uri="{FF2B5EF4-FFF2-40B4-BE49-F238E27FC236}">
                <a16:creationId xmlns:a16="http://schemas.microsoft.com/office/drawing/2014/main" id="{26E8A214-1477-40C8-911D-180E14E33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4193"/>
          <a:stretch/>
        </p:blipFill>
        <p:spPr>
          <a:xfrm>
            <a:off x="20" y="10"/>
            <a:ext cx="10794979" cy="5765790"/>
          </a:xfrm>
          <a:prstGeom prst="rect">
            <a:avLst/>
          </a:prstGeom>
        </p:spPr>
      </p:pic>
      <p:sp>
        <p:nvSpPr>
          <p:cNvPr id="43" name="Rectangle 11">
            <a:extLst>
              <a:ext uri="{FF2B5EF4-FFF2-40B4-BE49-F238E27FC236}">
                <a16:creationId xmlns:a16="http://schemas.microsoft.com/office/drawing/2014/main" id="{1CF6A1EC-BD15-42D9-A339-A3970CF7C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889" y="3547005"/>
            <a:ext cx="9887843" cy="1756574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1068" y="3782364"/>
            <a:ext cx="3198019" cy="1291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ES" sz="2800" spc="45" dirty="0"/>
              <a:t>La</a:t>
            </a:r>
            <a:r>
              <a:rPr lang="es-ES" sz="2800" dirty="0">
                <a:solidFill>
                  <a:srgbClr val="333333"/>
                </a:solidFill>
                <a:latin typeface="Calibri" panose="020F0502020204030204" pitchFamily="34" charset="0"/>
              </a:rPr>
              <a:t> </a:t>
            </a:r>
            <a:r>
              <a:rPr lang="es-ES" sz="2800" spc="45" dirty="0"/>
              <a:t>irradiancia</a:t>
            </a:r>
            <a:r>
              <a:rPr lang="es-ES" sz="2800" dirty="0">
                <a:solidFill>
                  <a:srgbClr val="333333"/>
                </a:solidFill>
                <a:latin typeface="Calibri" panose="020F0502020204030204" pitchFamily="34" charset="0"/>
              </a:rPr>
              <a:t> </a:t>
            </a:r>
            <a:r>
              <a:rPr lang="es-ES" sz="2800" spc="45" dirty="0"/>
              <a:t>solar</a:t>
            </a:r>
            <a:endParaRPr lang="es-CO" sz="2800" spc="45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20C27D-5C39-492B-BD68-C220C0F83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215" y="4129314"/>
            <a:ext cx="113347" cy="5919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F3394A-A959-460A-ACF9-5FA682C76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9983" y="4417195"/>
            <a:ext cx="1230037" cy="16193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55650C3-41EF-420E-A82C-64B69B03F0B6}"/>
              </a:ext>
            </a:extLst>
          </p:cNvPr>
          <p:cNvSpPr/>
          <p:nvPr/>
        </p:nvSpPr>
        <p:spPr>
          <a:xfrm>
            <a:off x="4689011" y="3547005"/>
            <a:ext cx="5615099" cy="1756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s-CO" sz="1600" dirty="0">
                <a:latin typeface="Century Gothic" panose="020B0502020202020204" pitchFamily="34" charset="0"/>
              </a:rPr>
              <a:t>es la </a:t>
            </a:r>
            <a:r>
              <a:rPr lang="es-CO" sz="1600" i="1" dirty="0">
                <a:latin typeface="Century Gothic" panose="020B0502020202020204" pitchFamily="34" charset="0"/>
                <a:hlinkClick r:id="rId3" tooltip="Glosario 2017: potencia"/>
              </a:rPr>
              <a:t>potencia</a:t>
            </a:r>
            <a:r>
              <a:rPr lang="es-CO" sz="1600" dirty="0">
                <a:latin typeface="Century Gothic" panose="020B0502020202020204" pitchFamily="34" charset="0"/>
              </a:rPr>
              <a:t> (medida en W/m²) del sol incidente sobre una superficie. En un día brillante y soleado en cualquier parte del mundo (excepto en los polos) la irradiancia solar será de alrededor de 1.000 W/m</a:t>
            </a:r>
            <a:r>
              <a:rPr lang="es-CO" sz="1600" baseline="30000" dirty="0">
                <a:latin typeface="Century Gothic" panose="020B0502020202020204" pitchFamily="34" charset="0"/>
              </a:rPr>
              <a:t>2</a:t>
            </a:r>
            <a:r>
              <a:rPr lang="es-CO" sz="1600" dirty="0">
                <a:latin typeface="Century Gothic" panose="020B0502020202020204" pitchFamily="34" charset="0"/>
              </a:rPr>
              <a:t>. </a:t>
            </a:r>
            <a:endParaRPr lang="en-US" sz="1400" dirty="0"/>
          </a:p>
        </p:txBody>
      </p:sp>
      <p:pic>
        <p:nvPicPr>
          <p:cNvPr id="3074" name="Picture 2" descr="Pronóstico del clima para este sábado, según el Ideam | EL UNIVERSAL -  Cartagena">
            <a:extLst>
              <a:ext uri="{FF2B5EF4-FFF2-40B4-BE49-F238E27FC236}">
                <a16:creationId xmlns:a16="http://schemas.microsoft.com/office/drawing/2014/main" id="{D68EBCC8-2F99-4968-A035-1D978AC236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22" r="21777"/>
          <a:stretch/>
        </p:blipFill>
        <p:spPr bwMode="auto">
          <a:xfrm>
            <a:off x="7988300" y="166165"/>
            <a:ext cx="685800" cy="107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NASA - Wikipedia, la enciclopedia libre">
            <a:extLst>
              <a:ext uri="{FF2B5EF4-FFF2-40B4-BE49-F238E27FC236}">
                <a16:creationId xmlns:a16="http://schemas.microsoft.com/office/drawing/2014/main" id="{9D837748-489B-45C1-9D52-4C084B3D8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2700" y="212996"/>
            <a:ext cx="1168795" cy="97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1173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513" y="3171963"/>
            <a:ext cx="3532187" cy="527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ES" sz="2800" spc="45" dirty="0"/>
              <a:t>La</a:t>
            </a:r>
            <a:r>
              <a:rPr lang="es-ES" sz="2800" dirty="0">
                <a:solidFill>
                  <a:srgbClr val="333333"/>
                </a:solidFill>
                <a:latin typeface="Calibri" panose="020F0502020204030204" pitchFamily="34" charset="0"/>
              </a:rPr>
              <a:t> </a:t>
            </a:r>
            <a:r>
              <a:rPr lang="es-ES" sz="2800" spc="45" dirty="0"/>
              <a:t>irradiación</a:t>
            </a:r>
            <a:r>
              <a:rPr lang="es-ES" sz="2800" dirty="0">
                <a:solidFill>
                  <a:srgbClr val="333333"/>
                </a:solidFill>
                <a:latin typeface="Calibri" panose="020F0502020204030204" pitchFamily="34" charset="0"/>
              </a:rPr>
              <a:t> </a:t>
            </a:r>
            <a:r>
              <a:rPr lang="es-ES" sz="2800" spc="45" dirty="0"/>
              <a:t>solar</a:t>
            </a:r>
            <a:endParaRPr lang="es-CO" sz="2800" spc="45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47502AE-1AAF-4454-A8E6-8CF97162F31A}"/>
              </a:ext>
            </a:extLst>
          </p:cNvPr>
          <p:cNvSpPr/>
          <p:nvPr/>
        </p:nvSpPr>
        <p:spPr>
          <a:xfrm>
            <a:off x="4178300" y="3492500"/>
            <a:ext cx="62484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solidFill>
                  <a:srgbClr val="333333"/>
                </a:solidFill>
                <a:latin typeface="Century Gothic" panose="020B0502020202020204" pitchFamily="34" charset="0"/>
              </a:rPr>
              <a:t>Es la </a:t>
            </a:r>
            <a:r>
              <a:rPr lang="es-ES" sz="1600" i="1" dirty="0">
                <a:solidFill>
                  <a:srgbClr val="3C763D"/>
                </a:solidFill>
                <a:latin typeface="Century Gothic" panose="020B0502020202020204" pitchFamily="34" charset="0"/>
                <a:hlinkClick r:id="rId2" tooltip="Glosario 2017: energía"/>
              </a:rPr>
              <a:t>energía</a:t>
            </a:r>
            <a:r>
              <a:rPr lang="es-ES" sz="1600" dirty="0">
                <a:solidFill>
                  <a:srgbClr val="333333"/>
                </a:solidFill>
                <a:latin typeface="Century Gothic" panose="020B0502020202020204" pitchFamily="34" charset="0"/>
              </a:rPr>
              <a:t> del sol incidente sobre una superficie durante un período de tiempo. Se expresa en </a:t>
            </a:r>
            <a:r>
              <a:rPr lang="es-ES" sz="1600" dirty="0" err="1">
                <a:solidFill>
                  <a:srgbClr val="333333"/>
                </a:solidFill>
                <a:latin typeface="Century Gothic" panose="020B0502020202020204" pitchFamily="34" charset="0"/>
              </a:rPr>
              <a:t>Wattios</a:t>
            </a:r>
            <a:r>
              <a:rPr lang="es-ES" sz="1600" dirty="0">
                <a:solidFill>
                  <a:srgbClr val="333333"/>
                </a:solidFill>
                <a:latin typeface="Century Gothic" panose="020B0502020202020204" pitchFamily="34" charset="0"/>
              </a:rPr>
              <a:t>-hora por metro cuadrado y día [</a:t>
            </a:r>
            <a:r>
              <a:rPr lang="es-ES" sz="1600" dirty="0" err="1">
                <a:solidFill>
                  <a:srgbClr val="3C763D"/>
                </a:solidFill>
                <a:latin typeface="Century Gothic" panose="020B0502020202020204" pitchFamily="34" charset="0"/>
                <a:hlinkClick r:id="rId3" tooltip="English Glossary: kWh"/>
              </a:rPr>
              <a:t>Wh</a:t>
            </a:r>
            <a:r>
              <a:rPr lang="es-ES" sz="1600" dirty="0">
                <a:solidFill>
                  <a:srgbClr val="333333"/>
                </a:solidFill>
                <a:latin typeface="Century Gothic" panose="020B0502020202020204" pitchFamily="34" charset="0"/>
              </a:rPr>
              <a:t>/m²día].</a:t>
            </a:r>
          </a:p>
          <a:p>
            <a:pPr algn="just"/>
            <a:r>
              <a:rPr lang="es-ES" sz="1600" dirty="0">
                <a:solidFill>
                  <a:srgbClr val="333333"/>
                </a:solidFill>
                <a:latin typeface="Century Gothic" panose="020B0502020202020204" pitchFamily="34" charset="0"/>
              </a:rPr>
              <a:t>La irradiación solar variará dependiendo de la ubicación, por ejemplo, en algunas partes de América Latina podría ser alrededor de 5,3 kWh/m</a:t>
            </a:r>
            <a:r>
              <a:rPr lang="es-ES" sz="1600" baseline="30000" dirty="0">
                <a:solidFill>
                  <a:srgbClr val="333333"/>
                </a:solidFill>
                <a:latin typeface="Century Gothic" panose="020B0502020202020204" pitchFamily="34" charset="0"/>
              </a:rPr>
              <a:t>2</a:t>
            </a:r>
            <a:r>
              <a:rPr lang="es-ES" sz="1600" dirty="0">
                <a:solidFill>
                  <a:srgbClr val="333333"/>
                </a:solidFill>
                <a:latin typeface="Century Gothic" panose="020B0502020202020204" pitchFamily="34" charset="0"/>
              </a:rPr>
              <a:t>día, mientras que en el norte de Europa podría ser alrededor de 2,9 kWh/m</a:t>
            </a:r>
            <a:r>
              <a:rPr lang="es-ES" sz="1600" baseline="30000" dirty="0">
                <a:solidFill>
                  <a:srgbClr val="333333"/>
                </a:solidFill>
                <a:latin typeface="Century Gothic" panose="020B0502020202020204" pitchFamily="34" charset="0"/>
              </a:rPr>
              <a:t>2</a:t>
            </a:r>
            <a:r>
              <a:rPr lang="es-ES" sz="1600" dirty="0">
                <a:solidFill>
                  <a:srgbClr val="333333"/>
                </a:solidFill>
                <a:latin typeface="Century Gothic" panose="020B0502020202020204" pitchFamily="34" charset="0"/>
              </a:rPr>
              <a:t>día. </a:t>
            </a:r>
            <a:endParaRPr lang="es-CO" sz="1600" dirty="0">
              <a:latin typeface="Century Gothic" panose="020B0502020202020204" pitchFamily="34" charset="0"/>
            </a:endParaRPr>
          </a:p>
        </p:txBody>
      </p:sp>
      <p:pic>
        <p:nvPicPr>
          <p:cNvPr id="2050" name="Picture 2" descr="Mapa&#10;&#10;Descripción generada automáticamente">
            <a:extLst>
              <a:ext uri="{FF2B5EF4-FFF2-40B4-BE49-F238E27FC236}">
                <a16:creationId xmlns:a16="http://schemas.microsoft.com/office/drawing/2014/main" id="{84E3C6FE-52F3-4BF8-888A-1F83B4AA2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" y="39292"/>
            <a:ext cx="6083460" cy="305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597F4EE6-4445-48F9-A31C-77380282A3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47" t="8120" r="1491" b="57262"/>
          <a:stretch/>
        </p:blipFill>
        <p:spPr bwMode="auto">
          <a:xfrm>
            <a:off x="7683499" y="520700"/>
            <a:ext cx="1219201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DB4602D-7D16-444D-9991-F6599F203C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454" y="3614866"/>
            <a:ext cx="2770304" cy="2084654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10597218-321C-4898-B020-6D54FC50D909}"/>
              </a:ext>
            </a:extLst>
          </p:cNvPr>
          <p:cNvCxnSpPr>
            <a:cxnSpLocks/>
          </p:cNvCxnSpPr>
          <p:nvPr/>
        </p:nvCxnSpPr>
        <p:spPr>
          <a:xfrm>
            <a:off x="6154897" y="825500"/>
            <a:ext cx="1528602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023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7502AE-1AAF-4454-A8E6-8CF97162F31A}"/>
              </a:ext>
            </a:extLst>
          </p:cNvPr>
          <p:cNvSpPr/>
          <p:nvPr/>
        </p:nvSpPr>
        <p:spPr>
          <a:xfrm>
            <a:off x="5026025" y="1580505"/>
            <a:ext cx="5410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sz="2000" dirty="0">
                <a:latin typeface="Century Gothic" panose="020B0502020202020204" pitchFamily="34" charset="0"/>
              </a:rPr>
              <a:t>Es cuando un sistema es completamente independiente y gracias a que almacenas la energía puedes utilizarla en las noches y durante los días nublados. </a:t>
            </a:r>
          </a:p>
          <a:p>
            <a:pPr algn="just"/>
            <a:endParaRPr lang="es-CO" sz="2000" dirty="0">
              <a:latin typeface="Century Gothic" panose="020B0502020202020204" pitchFamily="34" charset="0"/>
            </a:endParaRPr>
          </a:p>
          <a:p>
            <a:pPr algn="just"/>
            <a:endParaRPr lang="es-CO" sz="2000" dirty="0">
              <a:latin typeface="Century Gothic" panose="020B0502020202020204" pitchFamily="34" charset="0"/>
            </a:endParaRPr>
          </a:p>
          <a:p>
            <a:pPr algn="just"/>
            <a:r>
              <a:rPr lang="es-CO" sz="2000" dirty="0">
                <a:latin typeface="Century Gothic" panose="020B0502020202020204" pitchFamily="34" charset="0"/>
              </a:rPr>
              <a:t>Este tipo de sistemas son muy comunes en zonas rurales o alejadas de las ciudades, donde no llega la red eléctrica.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E2E2759-929B-4217-8870-29AAC0A361A8}"/>
              </a:ext>
            </a:extLst>
          </p:cNvPr>
          <p:cNvSpPr/>
          <p:nvPr/>
        </p:nvSpPr>
        <p:spPr>
          <a:xfrm>
            <a:off x="3416300" y="444500"/>
            <a:ext cx="48416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800" b="1" dirty="0"/>
              <a:t>SISTEMAS AISLADOS (OFF- GRID)</a:t>
            </a:r>
            <a:endParaRPr lang="es-CO" sz="2800" dirty="0"/>
          </a:p>
        </p:txBody>
      </p:sp>
      <p:pic>
        <p:nvPicPr>
          <p:cNvPr id="9" name="3 Imagen">
            <a:extLst>
              <a:ext uri="{FF2B5EF4-FFF2-40B4-BE49-F238E27FC236}">
                <a16:creationId xmlns:a16="http://schemas.microsoft.com/office/drawing/2014/main" id="{A72DB84E-FF42-4DD2-8DBA-E98C0BDE0E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09"/>
          <a:stretch/>
        </p:blipFill>
        <p:spPr>
          <a:xfrm>
            <a:off x="292100" y="1580505"/>
            <a:ext cx="4624325" cy="304202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8A368C9-6768-1F3E-EC4F-B27B360907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1940"/>
            <a:ext cx="1816100" cy="181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861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7502AE-1AAF-4454-A8E6-8CF97162F31A}"/>
              </a:ext>
            </a:extLst>
          </p:cNvPr>
          <p:cNvSpPr/>
          <p:nvPr/>
        </p:nvSpPr>
        <p:spPr>
          <a:xfrm>
            <a:off x="5930900" y="1614160"/>
            <a:ext cx="44958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sz="2000" dirty="0">
                <a:latin typeface="Century Gothic" panose="020B0502020202020204" pitchFamily="34" charset="0"/>
              </a:rPr>
              <a:t>Los sistemas </a:t>
            </a:r>
            <a:r>
              <a:rPr lang="es-CO" sz="2000" dirty="0" err="1">
                <a:latin typeface="Century Gothic" panose="020B0502020202020204" pitchFamily="34" charset="0"/>
              </a:rPr>
              <a:t>On-Grid</a:t>
            </a:r>
            <a:r>
              <a:rPr lang="es-CO" sz="2000" dirty="0">
                <a:latin typeface="Century Gothic" panose="020B0502020202020204" pitchFamily="34" charset="0"/>
              </a:rPr>
              <a:t> están pensados para operar en conjunto con la red eléctrica publica. </a:t>
            </a:r>
          </a:p>
          <a:p>
            <a:pPr algn="just"/>
            <a:endParaRPr lang="es-CO" sz="2000" dirty="0">
              <a:latin typeface="Century Gothic" panose="020B0502020202020204" pitchFamily="34" charset="0"/>
            </a:endParaRPr>
          </a:p>
          <a:p>
            <a:pPr algn="just"/>
            <a:r>
              <a:rPr lang="es-CO" sz="2000" dirty="0">
                <a:latin typeface="Century Gothic" panose="020B0502020202020204" pitchFamily="34" charset="0"/>
              </a:rPr>
              <a:t>Estos sistemas típicamente consisten en un arreglo de paneles y un inversor que es capaz de “inyectar” la energía generada por los paneles a la red.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E2E2759-929B-4217-8870-29AAC0A361A8}"/>
              </a:ext>
            </a:extLst>
          </p:cNvPr>
          <p:cNvSpPr/>
          <p:nvPr/>
        </p:nvSpPr>
        <p:spPr>
          <a:xfrm>
            <a:off x="3340100" y="444500"/>
            <a:ext cx="65882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800" b="1" dirty="0"/>
              <a:t>SISTEMAS INTERCONECTADOS – ON GRID </a:t>
            </a:r>
            <a:endParaRPr lang="es-CO" sz="2800" dirty="0"/>
          </a:p>
        </p:txBody>
      </p:sp>
      <p:pic>
        <p:nvPicPr>
          <p:cNvPr id="4098" name="Picture 2" descr="TP - SISTEMAS FOTOVOLTAICOS, INTERCONECTADOS A LA RED ELÉCTRICA - PANELES Y  CALENTADORES SOLARES - CSIER RENOVABLE en Puebla - TODOPUEBLA.com">
            <a:extLst>
              <a:ext uri="{FF2B5EF4-FFF2-40B4-BE49-F238E27FC236}">
                <a16:creationId xmlns:a16="http://schemas.microsoft.com/office/drawing/2014/main" id="{42BF4127-0A59-40C2-B497-6635CAE657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0" t="1947" r="1467" b="1507"/>
          <a:stretch>
            <a:fillRect/>
          </a:stretch>
        </p:blipFill>
        <p:spPr bwMode="auto">
          <a:xfrm>
            <a:off x="215900" y="1584527"/>
            <a:ext cx="5410200" cy="3353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3D8C5C8-BE86-6D28-9E0A-9A36936AC8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1940"/>
            <a:ext cx="1816100" cy="181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16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9E2E2759-929B-4217-8870-29AAC0A361A8}"/>
              </a:ext>
            </a:extLst>
          </p:cNvPr>
          <p:cNvSpPr/>
          <p:nvPr/>
        </p:nvSpPr>
        <p:spPr>
          <a:xfrm>
            <a:off x="1990239" y="735743"/>
            <a:ext cx="44598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400" b="1" dirty="0">
                <a:latin typeface="Century Gothic" panose="020B0502020202020204" pitchFamily="34" charset="0"/>
              </a:rPr>
              <a:t>EJEMPLO: </a:t>
            </a:r>
            <a:r>
              <a:rPr lang="es-CO" sz="2400" dirty="0">
                <a:latin typeface="Century Gothic" panose="020B0502020202020204" pitchFamily="34" charset="0"/>
              </a:rPr>
              <a:t>Dimensionamiento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6C81569-34C7-4762-9238-431633A361E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12100" y="0"/>
            <a:ext cx="2882901" cy="57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7BA39DC-3FD5-48A0-875E-5B87BAF9FA0B}"/>
              </a:ext>
            </a:extLst>
          </p:cNvPr>
          <p:cNvSpPr/>
          <p:nvPr/>
        </p:nvSpPr>
        <p:spPr>
          <a:xfrm>
            <a:off x="350120" y="1739900"/>
            <a:ext cx="71533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>
                <a:latin typeface="Century Gothic" panose="020B0502020202020204" pitchFamily="34" charset="0"/>
              </a:rPr>
              <a:t>Irradiación promedio Antioquia: </a:t>
            </a:r>
            <a:r>
              <a:rPr lang="es-CO" sz="2000" dirty="0">
                <a:latin typeface="Century Gothic" panose="020B0502020202020204" pitchFamily="34" charset="0"/>
              </a:rPr>
              <a:t>4.2 kWh-m2-día</a:t>
            </a:r>
          </a:p>
          <a:p>
            <a:endParaRPr lang="es-CO" sz="2000" b="1" dirty="0">
              <a:latin typeface="Century Gothic" panose="020B0502020202020204" pitchFamily="34" charset="0"/>
            </a:endParaRPr>
          </a:p>
          <a:p>
            <a:r>
              <a:rPr lang="es-CO" sz="2000" b="1" dirty="0">
                <a:latin typeface="Century Gothic" panose="020B0502020202020204" pitchFamily="34" charset="0"/>
              </a:rPr>
              <a:t>Energía a generar: </a:t>
            </a:r>
            <a:r>
              <a:rPr lang="es-CO" sz="2000" dirty="0">
                <a:latin typeface="Century Gothic" panose="020B0502020202020204" pitchFamily="34" charset="0"/>
              </a:rPr>
              <a:t>193 kWh-mes (100%)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B8C77D1-9678-455A-97E3-5E84F6BB6CAE}"/>
              </a:ext>
            </a:extLst>
          </p:cNvPr>
          <p:cNvSpPr/>
          <p:nvPr/>
        </p:nvSpPr>
        <p:spPr>
          <a:xfrm>
            <a:off x="350120" y="3111500"/>
            <a:ext cx="7153316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>
                <a:latin typeface="Century Gothic" panose="020B0502020202020204" pitchFamily="34" charset="0"/>
              </a:rPr>
              <a:t>Energía a generar al día: </a:t>
            </a:r>
            <a:r>
              <a:rPr lang="es-CO" sz="2000" u="sng" dirty="0">
                <a:latin typeface="Century Gothic" panose="020B0502020202020204" pitchFamily="34" charset="0"/>
              </a:rPr>
              <a:t>193 kWh-mes</a:t>
            </a:r>
            <a:r>
              <a:rPr lang="es-CO" sz="2000" dirty="0">
                <a:latin typeface="Century Gothic" panose="020B0502020202020204" pitchFamily="34" charset="0"/>
              </a:rPr>
              <a:t> =   6,5 kWh-día</a:t>
            </a:r>
          </a:p>
          <a:p>
            <a:r>
              <a:rPr lang="es-CO" sz="2000" dirty="0">
                <a:latin typeface="Century Gothic" panose="020B0502020202020204" pitchFamily="34" charset="0"/>
              </a:rPr>
              <a:t>                                                30 día-mes</a:t>
            </a:r>
          </a:p>
          <a:p>
            <a:endParaRPr lang="es-CO" sz="2400" dirty="0">
              <a:latin typeface="Century Gothic" panose="020B0502020202020204" pitchFamily="34" charset="0"/>
            </a:endParaRPr>
          </a:p>
          <a:p>
            <a:r>
              <a:rPr lang="es-CO" sz="2000" b="1" dirty="0">
                <a:latin typeface="Century Gothic" panose="020B0502020202020204" pitchFamily="34" charset="0"/>
              </a:rPr>
              <a:t>Potencia del sistema:   </a:t>
            </a:r>
            <a:r>
              <a:rPr lang="es-CO" sz="2000" u="sng" dirty="0">
                <a:latin typeface="Century Gothic" panose="020B0502020202020204" pitchFamily="34" charset="0"/>
              </a:rPr>
              <a:t>6,5 kWh-día</a:t>
            </a:r>
            <a:r>
              <a:rPr lang="es-CO" sz="2000" dirty="0">
                <a:latin typeface="Century Gothic" panose="020B0502020202020204" pitchFamily="34" charset="0"/>
              </a:rPr>
              <a:t>     =   1,5 kWp</a:t>
            </a:r>
          </a:p>
          <a:p>
            <a:r>
              <a:rPr lang="es-CO" sz="2000" dirty="0">
                <a:latin typeface="Century Gothic" panose="020B0502020202020204" pitchFamily="34" charset="0"/>
              </a:rPr>
              <a:t>                                     4.2 kWh-m2-dia</a:t>
            </a:r>
            <a:endParaRPr lang="es-CO" sz="2400" dirty="0">
              <a:latin typeface="Century Gothic" panose="020B0502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E73A792-A0D9-86C3-03DE-64A52D472B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1940"/>
            <a:ext cx="1816100" cy="181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938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4608153-E231-4915-8AC8-61C3D6BA1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900" y="177077"/>
            <a:ext cx="2819400" cy="541164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430ABF1-E35F-48B0-8A5A-DB873FFD1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" y="1968500"/>
            <a:ext cx="6934200" cy="3286208"/>
          </a:xfrm>
          <a:prstGeom prst="rect">
            <a:avLst/>
          </a:prstGeom>
        </p:spPr>
      </p:pic>
      <p:pic>
        <p:nvPicPr>
          <p:cNvPr id="1026" name="Picture 2" descr="Znshine solar - A Tier1 solar panel manufacturer">
            <a:extLst>
              <a:ext uri="{FF2B5EF4-FFF2-40B4-BE49-F238E27FC236}">
                <a16:creationId xmlns:a16="http://schemas.microsoft.com/office/drawing/2014/main" id="{2FD88A96-D192-42B8-BEE4-5A460317C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101" y="913695"/>
            <a:ext cx="3233738" cy="761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37ACD1B-7A96-9A47-8BA7-38E87C9C08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1940"/>
            <a:ext cx="1816100" cy="181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58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 Título">
            <a:extLst>
              <a:ext uri="{FF2B5EF4-FFF2-40B4-BE49-F238E27FC236}">
                <a16:creationId xmlns:a16="http://schemas.microsoft.com/office/drawing/2014/main" id="{54B6079B-41D7-4F81-A543-650859073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6700" y="321839"/>
            <a:ext cx="7848600" cy="689822"/>
          </a:xfrm>
        </p:spPr>
        <p:txBody>
          <a:bodyPr>
            <a:normAutofit fontScale="90000"/>
          </a:bodyPr>
          <a:lstStyle/>
          <a:p>
            <a:pPr algn="ctr"/>
            <a:r>
              <a:rPr lang="es-CO" sz="3200" spc="45" dirty="0"/>
              <a:t>LEY 1715 -2014 DE ENERGIAS RENOVABLES</a:t>
            </a:r>
          </a:p>
        </p:txBody>
      </p:sp>
      <p:pic>
        <p:nvPicPr>
          <p:cNvPr id="8" name="3 Imagen">
            <a:extLst>
              <a:ext uri="{FF2B5EF4-FFF2-40B4-BE49-F238E27FC236}">
                <a16:creationId xmlns:a16="http://schemas.microsoft.com/office/drawing/2014/main" id="{0AE7DE91-F718-41BE-AE3F-814B1490C79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17" y="2486660"/>
            <a:ext cx="3775283" cy="1510114"/>
          </a:xfrm>
          <a:prstGeom prst="rect">
            <a:avLst/>
          </a:prstGeom>
        </p:spPr>
      </p:pic>
      <p:sp>
        <p:nvSpPr>
          <p:cNvPr id="9" name="2 Marcador de contenido">
            <a:extLst>
              <a:ext uri="{FF2B5EF4-FFF2-40B4-BE49-F238E27FC236}">
                <a16:creationId xmlns:a16="http://schemas.microsoft.com/office/drawing/2014/main" id="{CFE9AD88-3E51-4EF3-9E8F-AD28F38FC667}"/>
              </a:ext>
            </a:extLst>
          </p:cNvPr>
          <p:cNvSpPr txBox="1">
            <a:spLocks/>
          </p:cNvSpPr>
          <p:nvPr/>
        </p:nvSpPr>
        <p:spPr>
          <a:xfrm>
            <a:off x="4756150" y="1403049"/>
            <a:ext cx="5559633" cy="4047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0" i="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CO" sz="2800" kern="0"/>
              <a:t>(1) Exclusión del IVA.</a:t>
            </a:r>
          </a:p>
          <a:p>
            <a:pPr algn="just"/>
            <a:endParaRPr lang="es-CO" sz="2800" kern="0"/>
          </a:p>
          <a:p>
            <a:pPr algn="just"/>
            <a:r>
              <a:rPr lang="es-CO" sz="2800" kern="0"/>
              <a:t>(2) Cero arancel.</a:t>
            </a:r>
          </a:p>
          <a:p>
            <a:pPr algn="just"/>
            <a:endParaRPr lang="es-CO" sz="2800" kern="0"/>
          </a:p>
          <a:p>
            <a:pPr algn="just"/>
            <a:r>
              <a:rPr lang="es-CO" sz="2800" kern="0"/>
              <a:t>(3) Descuento del 50% de la inversión en la declaración de renta.</a:t>
            </a:r>
          </a:p>
          <a:p>
            <a:pPr algn="just"/>
            <a:endParaRPr lang="es-CO" sz="2800" kern="0"/>
          </a:p>
          <a:p>
            <a:pPr algn="just"/>
            <a:r>
              <a:rPr lang="es-CO" sz="2800" kern="0"/>
              <a:t>(4) Depreciación acelerada.</a:t>
            </a:r>
          </a:p>
          <a:p>
            <a:endParaRPr lang="es-CO" kern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EC76882-A1A3-9DBC-CF90-5B7413DD48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1940"/>
            <a:ext cx="1816100" cy="181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69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04DA65B-93B3-4BFA-AECD-1ACAB5B051F5}"/>
              </a:ext>
            </a:extLst>
          </p:cNvPr>
          <p:cNvSpPr/>
          <p:nvPr/>
        </p:nvSpPr>
        <p:spPr>
          <a:xfrm>
            <a:off x="1816100" y="915841"/>
            <a:ext cx="85065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tabLst>
                <a:tab pos="522605" algn="l"/>
              </a:tabLst>
            </a:pPr>
            <a:r>
              <a:rPr lang="es-CO" dirty="0"/>
              <a:t>Actualmente la Escuela cuenta con un consumo de alrededor de 2000 kWh – mes y el actual por kWh es de $877, es decir alrededor de $ 1,774,000/ mes, estos serán los datos con los que se dimensionará el sistema fotovoltaico</a:t>
            </a:r>
            <a:r>
              <a:rPr lang="es-CO" sz="1100" dirty="0">
                <a:solidFill>
                  <a:srgbClr val="00000A"/>
                </a:solidFill>
                <a:latin typeface="Century Gothic" panose="020B0502020202020204" pitchFamily="34" charset="0"/>
                <a:ea typeface="Arial Unicode MS"/>
                <a:cs typeface="Helvetica" panose="020B0604020202020204" pitchFamily="34" charset="0"/>
              </a:rPr>
              <a:t> .</a:t>
            </a:r>
            <a:endParaRPr lang="es-CO" dirty="0">
              <a:solidFill>
                <a:srgbClr val="00000A"/>
              </a:solidFill>
              <a:latin typeface="Liberation Serif"/>
              <a:ea typeface="Arial Unicode MS"/>
              <a:cs typeface="Arial Unicode MS"/>
            </a:endParaRPr>
          </a:p>
        </p:txBody>
      </p:sp>
      <p:sp>
        <p:nvSpPr>
          <p:cNvPr id="7" name="1 Título">
            <a:extLst>
              <a:ext uri="{FF2B5EF4-FFF2-40B4-BE49-F238E27FC236}">
                <a16:creationId xmlns:a16="http://schemas.microsoft.com/office/drawing/2014/main" id="{ACB1ED4B-3CCC-40A2-ADFB-7CA94D5C2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85" y="265673"/>
            <a:ext cx="10326465" cy="571777"/>
          </a:xfrm>
        </p:spPr>
        <p:txBody>
          <a:bodyPr>
            <a:normAutofit/>
          </a:bodyPr>
          <a:lstStyle/>
          <a:p>
            <a:pPr algn="ctr"/>
            <a:r>
              <a:rPr lang="es-CO" sz="3200" spc="45" dirty="0"/>
              <a:t>EJEMPLO REAL (Escuela Cristo Rey)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16EE96-5F47-1FDA-A45B-CF84B378F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91" y="2578100"/>
            <a:ext cx="9850215" cy="243887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697A66A-F4C4-3462-00B2-FB1EE68753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29"/>
          <a:stretch>
            <a:fillRect/>
          </a:stretch>
        </p:blipFill>
        <p:spPr>
          <a:xfrm>
            <a:off x="441403" y="2044700"/>
            <a:ext cx="10058400" cy="3644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ED33B2F-86AC-748A-57FF-A277B3848A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1940"/>
            <a:ext cx="1816100" cy="181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807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04DA65B-93B3-4BFA-AECD-1ACAB5B051F5}"/>
              </a:ext>
            </a:extLst>
          </p:cNvPr>
          <p:cNvSpPr/>
          <p:nvPr/>
        </p:nvSpPr>
        <p:spPr>
          <a:xfrm>
            <a:off x="196849" y="444500"/>
            <a:ext cx="104013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dirty="0"/>
              <a:t>Con el fin de suplir alrededor del 100% de la energía eléctrica necesaria para el funcionamiento de su instalación se propone instalar 28 paneles solares fotovoltaicos de 620 W, para una potencia instalada de 17.4 kW pico.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57FAD6D-A591-4730-B2F3-9AC77127845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8" y="1968500"/>
            <a:ext cx="5581651" cy="2291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F8A777B-67DD-499C-8376-8811991F998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2925" y="2032995"/>
            <a:ext cx="5051065" cy="200521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B15A53C-475F-4C11-9076-2437CEBE2B4B}"/>
              </a:ext>
            </a:extLst>
          </p:cNvPr>
          <p:cNvSpPr/>
          <p:nvPr/>
        </p:nvSpPr>
        <p:spPr>
          <a:xfrm>
            <a:off x="288923" y="4259821"/>
            <a:ext cx="103092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tabLst>
                <a:tab pos="522605" algn="l"/>
              </a:tabLst>
            </a:pPr>
            <a:r>
              <a:rPr lang="es-CO" dirty="0">
                <a:solidFill>
                  <a:srgbClr val="00000A"/>
                </a:solidFill>
                <a:latin typeface="Century Gothic" panose="020B0502020202020204" pitchFamily="34" charset="0"/>
                <a:ea typeface="Arial Unicode MS"/>
                <a:cs typeface="Helvetica" panose="020B0604020202020204" pitchFamily="34" charset="0"/>
              </a:rPr>
              <a:t>Teniendo en cuenta que la zona se tiene en promedio 4 horas de sol al día (Irradiancia), la energía estimada que podría generar el sistema solar fotovoltaico sería alrededor de 2088 kWh/mes ($ 1,831,176) y el área requerida para la instalación de los paneles sería de alrededor de 100 m2.</a:t>
            </a:r>
            <a:endParaRPr lang="es-CO" dirty="0">
              <a:solidFill>
                <a:srgbClr val="00000A"/>
              </a:solidFill>
              <a:latin typeface="Liberation Serif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4023992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62ABC4B-37D8-4218-BDD8-6DF6A00C0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49" y="0"/>
            <a:ext cx="10792301" cy="576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n 4" descr="Imagen que contiene panel solar, cerca, pasto, exterior&#10;&#10;Descripción generada automáticamente">
            <a:extLst>
              <a:ext uri="{FF2B5EF4-FFF2-40B4-BE49-F238E27FC236}">
                <a16:creationId xmlns:a16="http://schemas.microsoft.com/office/drawing/2014/main" id="{E26512AE-D50D-4B2E-844E-511A1EAF29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838" r="3" b="18847"/>
          <a:stretch/>
        </p:blipFill>
        <p:spPr>
          <a:xfrm>
            <a:off x="284865" y="270493"/>
            <a:ext cx="5024648" cy="2536855"/>
          </a:xfrm>
          <a:prstGeom prst="rect">
            <a:avLst/>
          </a:prstGeom>
        </p:spPr>
      </p:pic>
      <p:pic>
        <p:nvPicPr>
          <p:cNvPr id="8" name="Imagen 7" descr="Imagen que contiene panel solar, exterior, objeto, grande&#10;&#10;Descripción generada automáticamente">
            <a:extLst>
              <a:ext uri="{FF2B5EF4-FFF2-40B4-BE49-F238E27FC236}">
                <a16:creationId xmlns:a16="http://schemas.microsoft.com/office/drawing/2014/main" id="{70771B44-D054-405C-B623-0E1ED61968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639" r="3" b="29120"/>
          <a:stretch/>
        </p:blipFill>
        <p:spPr>
          <a:xfrm>
            <a:off x="284865" y="2951717"/>
            <a:ext cx="5024648" cy="2345628"/>
          </a:xfrm>
          <a:prstGeom prst="rect">
            <a:avLst/>
          </a:prstGeom>
        </p:spPr>
      </p:pic>
      <p:pic>
        <p:nvPicPr>
          <p:cNvPr id="3" name="Imagen 2" descr="Imagen que contiene panel solar, exterior, pasto, tenis de mesa&#10;&#10;Descripción generada automáticamente">
            <a:extLst>
              <a:ext uri="{FF2B5EF4-FFF2-40B4-BE49-F238E27FC236}">
                <a16:creationId xmlns:a16="http://schemas.microsoft.com/office/drawing/2014/main" id="{8AC68945-8968-4266-8A8C-5D24F334C5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586" r="13447" b="-1"/>
          <a:stretch/>
        </p:blipFill>
        <p:spPr>
          <a:xfrm>
            <a:off x="5485486" y="270494"/>
            <a:ext cx="5024648" cy="502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92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Resultado de imagen para panel solar">
            <a:extLst>
              <a:ext uri="{FF2B5EF4-FFF2-40B4-BE49-F238E27FC236}">
                <a16:creationId xmlns:a16="http://schemas.microsoft.com/office/drawing/2014/main" id="{14D7031A-CFC0-4CBF-A8FB-086E4C91444C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3" t="9948" r="9543" b="9139"/>
          <a:stretch/>
        </p:blipFill>
        <p:spPr bwMode="auto">
          <a:xfrm>
            <a:off x="429101" y="1315452"/>
            <a:ext cx="3114116" cy="3129727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88291" y="1323230"/>
            <a:ext cx="0" cy="3119339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 descr="Imagen que contiene diferente, artículos, tabla, diversos&#10;&#10;Descripción generada automáticamente">
            <a:extLst>
              <a:ext uri="{FF2B5EF4-FFF2-40B4-BE49-F238E27FC236}">
                <a16:creationId xmlns:a16="http://schemas.microsoft.com/office/drawing/2014/main" id="{0B5E12B8-16AD-42F9-82CF-56E0CA625D9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744" y="1695593"/>
            <a:ext cx="3132024" cy="2369444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79720" y="1323230"/>
            <a:ext cx="0" cy="3119339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nversor Solar Growatt 10000TL3-S Trífasico - Merkasol Energías Renovables">
            <a:extLst>
              <a:ext uri="{FF2B5EF4-FFF2-40B4-BE49-F238E27FC236}">
                <a16:creationId xmlns:a16="http://schemas.microsoft.com/office/drawing/2014/main" id="{3ABFC52C-AEA5-4E2B-94AF-74C5D27C80D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27068" y="1584065"/>
            <a:ext cx="3114117" cy="25925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00434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95000" cy="576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33054" y="-213270"/>
            <a:ext cx="1618220" cy="1157690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89473" y="354915"/>
            <a:ext cx="571420" cy="54258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892666" y="550802"/>
            <a:ext cx="608699" cy="57798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284527" y="0"/>
            <a:ext cx="2510473" cy="1244999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62387" y="5141550"/>
            <a:ext cx="1323267" cy="624250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32779" y="5425420"/>
            <a:ext cx="721528" cy="340380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E4B3EBB-B949-4836-9749-788866AC0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100" y="5765800"/>
            <a:ext cx="1079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D4DA7972-E7F8-C913-B000-BA8074E12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582380"/>
              </p:ext>
            </p:extLst>
          </p:nvPr>
        </p:nvGraphicFramePr>
        <p:xfrm>
          <a:off x="971648" y="965579"/>
          <a:ext cx="8229600" cy="3723004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702802">
                  <a:extLst>
                    <a:ext uri="{9D8B030D-6E8A-4147-A177-3AD203B41FA5}">
                      <a16:colId xmlns:a16="http://schemas.microsoft.com/office/drawing/2014/main" val="105471190"/>
                    </a:ext>
                  </a:extLst>
                </a:gridCol>
                <a:gridCol w="3768224">
                  <a:extLst>
                    <a:ext uri="{9D8B030D-6E8A-4147-A177-3AD203B41FA5}">
                      <a16:colId xmlns:a16="http://schemas.microsoft.com/office/drawing/2014/main" val="1180378809"/>
                    </a:ext>
                  </a:extLst>
                </a:gridCol>
                <a:gridCol w="2085448">
                  <a:extLst>
                    <a:ext uri="{9D8B030D-6E8A-4147-A177-3AD203B41FA5}">
                      <a16:colId xmlns:a16="http://schemas.microsoft.com/office/drawing/2014/main" val="1840072797"/>
                    </a:ext>
                  </a:extLst>
                </a:gridCol>
                <a:gridCol w="1673126">
                  <a:extLst>
                    <a:ext uri="{9D8B030D-6E8A-4147-A177-3AD203B41FA5}">
                      <a16:colId xmlns:a16="http://schemas.microsoft.com/office/drawing/2014/main" val="3290624132"/>
                    </a:ext>
                  </a:extLst>
                </a:gridCol>
              </a:tblGrid>
              <a:tr h="508425">
                <a:tc gridSpan="4">
                  <a:txBody>
                    <a:bodyPr/>
                    <a:lstStyle/>
                    <a:p>
                      <a:pPr marL="31750" marR="0" lvl="0" indent="0" algn="ctr" defTabSz="91440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dirty="0">
                          <a:effectLst/>
                        </a:rPr>
                        <a:t>PRESUPUESTO</a:t>
                      </a:r>
                      <a:endParaRPr lang="es-CO" sz="24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9514" marR="19514" marT="19514" marB="19514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endParaRPr lang="es-CO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9514" marR="19514" marT="19514" marB="19514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endParaRPr lang="es-CO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9514" marR="19514" marT="19514" marB="19514"/>
                </a:tc>
                <a:extLst>
                  <a:ext uri="{0D108BD9-81ED-4DB2-BD59-A6C34878D82A}">
                    <a16:rowId xmlns:a16="http://schemas.microsoft.com/office/drawing/2014/main" val="1607365073"/>
                  </a:ext>
                </a:extLst>
              </a:tr>
              <a:tr h="70690">
                <a:tc gridSpan="4"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endParaRPr lang="es-CO" sz="12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9514" marR="19514" marT="19514" marB="19514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endParaRPr lang="es-CO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9514" marR="19514" marT="19514" marB="19514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endParaRPr lang="es-CO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9514" marR="19514" marT="19514" marB="19514"/>
                </a:tc>
                <a:extLst>
                  <a:ext uri="{0D108BD9-81ED-4DB2-BD59-A6C34878D82A}">
                    <a16:rowId xmlns:a16="http://schemas.microsoft.com/office/drawing/2014/main" val="796530182"/>
                  </a:ext>
                </a:extLst>
              </a:tr>
              <a:tr h="508425">
                <a:tc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r>
                        <a:rPr lang="es-ES" sz="1800" dirty="0">
                          <a:effectLst/>
                        </a:rPr>
                        <a:t>ITEM</a:t>
                      </a:r>
                      <a:endParaRPr lang="es-CO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9514" marR="19514" marT="19514" marB="19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r>
                        <a:rPr lang="es-ES" sz="1800" dirty="0">
                          <a:effectLst/>
                        </a:rPr>
                        <a:t>DESCRIPCIÓN</a:t>
                      </a:r>
                      <a:endParaRPr lang="es-CO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9514" marR="19514" marT="19514" marB="195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r>
                        <a:rPr lang="es-ES" sz="1800" dirty="0">
                          <a:effectLst/>
                        </a:rPr>
                        <a:t>VALOR</a:t>
                      </a:r>
                      <a:endParaRPr lang="es-CO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9514" marR="19514" marT="19514" marB="1951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6078154"/>
                  </a:ext>
                </a:extLst>
              </a:tr>
              <a:tr h="74988">
                <a:tc gridSpan="4"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CO" sz="12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9514" marR="19514" marT="19514" marB="19514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713159"/>
                  </a:ext>
                </a:extLst>
              </a:tr>
              <a:tr h="508659">
                <a:tc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r>
                        <a:rPr lang="es-ES" sz="1800" dirty="0">
                          <a:effectLst/>
                        </a:rPr>
                        <a:t>1</a:t>
                      </a:r>
                      <a:endParaRPr lang="es-CO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9514" marR="19514" marT="19514" marB="19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r>
                        <a:rPr lang="es-ES" sz="1800" dirty="0">
                          <a:effectLst/>
                        </a:rPr>
                        <a:t>SISTEMA SOLAR FOTOVOLTAICO ON-GRID 17,4 kWp</a:t>
                      </a:r>
                      <a:endParaRPr lang="es-CO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9514" marR="19514" marT="19514" marB="195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r>
                        <a:rPr lang="es-ES" sz="1800" dirty="0">
                          <a:effectLst/>
                        </a:rPr>
                        <a:t>$ 60.100.000</a:t>
                      </a:r>
                      <a:endParaRPr lang="es-CO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9514" marR="19514" marT="19514" marB="1951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9863193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endParaRPr lang="es-CO" sz="12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9514" marR="19514" marT="19514" marB="19514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endParaRPr lang="es-CO" sz="12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9514" marR="19514" marT="19514" marB="1951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endParaRPr lang="es-CO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9514" marR="19514" marT="19514" marB="19514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8316254"/>
                  </a:ext>
                </a:extLst>
              </a:tr>
              <a:tr h="508659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endParaRPr lang="es-CO" sz="2800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9514" marR="19514" marT="19514" marB="19514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1750" marR="31750" marT="31750" marB="317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800" b="1" dirty="0">
                          <a:effectLst/>
                        </a:rPr>
                        <a:t>SUBTOTAL</a:t>
                      </a:r>
                      <a:endParaRPr lang="es-CO" sz="2800" b="1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9514" marR="19514" marT="19514" marB="19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r>
                        <a:rPr lang="es-ES" sz="1800" dirty="0">
                          <a:effectLst/>
                        </a:rPr>
                        <a:t>$ 60.100.000</a:t>
                      </a:r>
                      <a:endParaRPr lang="es-CO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31750" marR="31750" marT="31750" marB="317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5854916"/>
                  </a:ext>
                </a:extLst>
              </a:tr>
              <a:tr h="508659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endParaRPr lang="es-CO" sz="2800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9514" marR="19514" marT="19514" marB="19514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1750" marR="31750" marT="31750" marB="317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800" b="1" dirty="0">
                          <a:effectLst/>
                        </a:rPr>
                        <a:t>IVA</a:t>
                      </a:r>
                      <a:endParaRPr lang="es-CO" sz="2800" b="1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9514" marR="19514" marT="19514" marB="19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800" dirty="0">
                          <a:effectLst/>
                        </a:rPr>
                        <a:t>$ 0</a:t>
                      </a:r>
                      <a:endParaRPr lang="es-CO" sz="2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31750" marR="31750" marT="31750" marB="317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336248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endParaRPr lang="es-CO" sz="2800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9514" marR="19514" marT="19514" marB="19514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1750" marR="31750" marT="31750" marB="317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800" b="1" dirty="0">
                          <a:effectLst/>
                        </a:rPr>
                        <a:t>TOTAL</a:t>
                      </a:r>
                      <a:endParaRPr lang="es-CO" sz="2800" b="1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9514" marR="19514" marT="19514" marB="19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r>
                        <a:rPr lang="es-ES" sz="1800" b="1" dirty="0">
                          <a:effectLst/>
                        </a:rPr>
                        <a:t>$ 60.100.000</a:t>
                      </a:r>
                      <a:endParaRPr lang="es-CO" sz="1800" b="1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31750" marR="31750" marT="31750" marB="317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9840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357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BF00C841-38D9-407D-A4F0-41B66403668B}"/>
              </a:ext>
            </a:extLst>
          </p:cNvPr>
          <p:cNvSpPr>
            <a:spLocks noGrp="1"/>
          </p:cNvSpPr>
          <p:nvPr/>
        </p:nvSpPr>
        <p:spPr>
          <a:xfrm>
            <a:off x="752828" y="400403"/>
            <a:ext cx="9369425" cy="54454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E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74" b="1">
                <a:solidFill>
                  <a:srgbClr val="173E32"/>
                </a:solidFill>
                <a:latin typeface="Bitstream Charter"/>
                <a:ea typeface="Bitstream Charter"/>
                <a:cs typeface="Bitstream Charter"/>
              </a:rPr>
              <a:t>Formas de implementar tu sistema solar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94A382C-1ACD-4913-9D3E-4573D5265801}"/>
              </a:ext>
            </a:extLst>
          </p:cNvPr>
          <p:cNvSpPr>
            <a:spLocks noGrp="1"/>
          </p:cNvSpPr>
          <p:nvPr/>
        </p:nvSpPr>
        <p:spPr>
          <a:xfrm>
            <a:off x="752828" y="1009015"/>
            <a:ext cx="9209264" cy="33633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2675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13">
                <a:solidFill>
                  <a:srgbClr val="52675D"/>
                </a:solidFill>
                <a:latin typeface="Bitstream Charter"/>
                <a:ea typeface="Bitstream Charter"/>
                <a:cs typeface="Bitstream Charter"/>
              </a:rPr>
              <a:t>Cuatro modalidades según tu capacidad de inversión y preferencia de pago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875A711-DE37-4BAF-B5BB-027CBCC16DB3}"/>
              </a:ext>
            </a:extLst>
          </p:cNvPr>
          <p:cNvSpPr>
            <a:spLocks noGrp="1"/>
          </p:cNvSpPr>
          <p:nvPr/>
        </p:nvSpPr>
        <p:spPr>
          <a:xfrm>
            <a:off x="752828" y="1737748"/>
            <a:ext cx="2082094" cy="720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400" b="1">
                <a:solidFill>
                  <a:srgbClr val="B2BF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540" b="1" dirty="0">
                <a:solidFill>
                  <a:schemeClr val="accent3">
                    <a:lumMod val="75000"/>
                  </a:schemeClr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C2EA146-EF39-420B-9061-F664C91B795C}"/>
              </a:ext>
            </a:extLst>
          </p:cNvPr>
          <p:cNvSpPr>
            <a:spLocks noGrp="1"/>
          </p:cNvSpPr>
          <p:nvPr/>
        </p:nvSpPr>
        <p:spPr>
          <a:xfrm>
            <a:off x="752828" y="2650667"/>
            <a:ext cx="2178191" cy="36036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73E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29" b="1">
                <a:solidFill>
                  <a:srgbClr val="173E32"/>
                </a:solidFill>
                <a:latin typeface="Bitstream Charter"/>
                <a:ea typeface="Bitstream Charter"/>
                <a:cs typeface="Bitstream Charter"/>
              </a:rPr>
              <a:t>Pago directo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C2ECFA7-51F2-4D3F-8841-9E20E9F750AE}"/>
              </a:ext>
            </a:extLst>
          </p:cNvPr>
          <p:cNvSpPr>
            <a:spLocks noGrp="1"/>
          </p:cNvSpPr>
          <p:nvPr/>
        </p:nvSpPr>
        <p:spPr>
          <a:xfrm>
            <a:off x="752828" y="3115134"/>
            <a:ext cx="2178191" cy="31231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5E7F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50" b="1">
                <a:solidFill>
                  <a:srgbClr val="5E7F25"/>
                </a:solidFill>
                <a:latin typeface="Bitstream Charter"/>
                <a:ea typeface="Bitstream Charter"/>
                <a:cs typeface="Bitstream Charter"/>
              </a:rPr>
              <a:t>Inversión propia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A489C6-CB17-4D51-9947-7DAE59E29C21}"/>
              </a:ext>
            </a:extLst>
          </p:cNvPr>
          <p:cNvSpPr>
            <a:spLocks noGrp="1"/>
          </p:cNvSpPr>
          <p:nvPr/>
        </p:nvSpPr>
        <p:spPr>
          <a:xfrm>
            <a:off x="752828" y="3555577"/>
            <a:ext cx="2122135" cy="104905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344D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50">
                <a:solidFill>
                  <a:srgbClr val="344D41"/>
                </a:solidFill>
                <a:latin typeface="Bitstream Charter"/>
                <a:ea typeface="Bitstream Charter"/>
                <a:cs typeface="Bitstream Charter"/>
              </a:rPr>
              <a:t>Adquieres el sistema con recursos propios y aprovechas la energía que genera.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9C7CB9-A9BB-4E4C-85E0-F71F4CBF8303}"/>
              </a:ext>
            </a:extLst>
          </p:cNvPr>
          <p:cNvSpPr>
            <a:spLocks noGrp="1"/>
          </p:cNvSpPr>
          <p:nvPr/>
        </p:nvSpPr>
        <p:spPr>
          <a:xfrm>
            <a:off x="752828" y="4748777"/>
            <a:ext cx="2114127" cy="5365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1736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35">
                <a:solidFill>
                  <a:srgbClr val="617366"/>
                </a:solidFill>
                <a:latin typeface="Bitstream Charter"/>
                <a:ea typeface="Bitstream Charter"/>
                <a:cs typeface="Bitstream Charter"/>
              </a:rPr>
              <a:t>Pago de la instalación según la oferta.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25C8EE1-70AB-4A16-8F0F-AAD2190674EB}"/>
              </a:ext>
            </a:extLst>
          </p:cNvPr>
          <p:cNvSpPr>
            <a:spLocks noGrp="1"/>
          </p:cNvSpPr>
          <p:nvPr/>
        </p:nvSpPr>
        <p:spPr>
          <a:xfrm>
            <a:off x="3179269" y="1737748"/>
            <a:ext cx="2082094" cy="720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400" b="1">
                <a:solidFill>
                  <a:srgbClr val="B2BF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540" b="1" dirty="0">
                <a:solidFill>
                  <a:schemeClr val="accent3">
                    <a:lumMod val="75000"/>
                  </a:schemeClr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674C665-C84A-4251-B05F-5502CC4B3E93}"/>
              </a:ext>
            </a:extLst>
          </p:cNvPr>
          <p:cNvSpPr>
            <a:spLocks noGrp="1"/>
          </p:cNvSpPr>
          <p:nvPr/>
        </p:nvSpPr>
        <p:spPr>
          <a:xfrm>
            <a:off x="3179269" y="2650667"/>
            <a:ext cx="2178191" cy="36036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73E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29" b="1">
                <a:solidFill>
                  <a:srgbClr val="173E32"/>
                </a:solidFill>
                <a:latin typeface="Bitstream Charter"/>
                <a:ea typeface="Bitstream Charter"/>
                <a:cs typeface="Bitstream Charter"/>
              </a:rPr>
              <a:t>PPA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FD44038-8EC7-4D4B-AE25-959DA03C98F6}"/>
              </a:ext>
            </a:extLst>
          </p:cNvPr>
          <p:cNvSpPr>
            <a:spLocks noGrp="1"/>
          </p:cNvSpPr>
          <p:nvPr/>
        </p:nvSpPr>
        <p:spPr>
          <a:xfrm>
            <a:off x="3179269" y="3115134"/>
            <a:ext cx="2178191" cy="31231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5E7F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50" b="1">
                <a:solidFill>
                  <a:srgbClr val="5E7F25"/>
                </a:solidFill>
                <a:latin typeface="Bitstream Charter"/>
                <a:ea typeface="Bitstream Charter"/>
                <a:cs typeface="Bitstream Charter"/>
              </a:rPr>
              <a:t>Compra de energía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5544302-5CE0-48FF-B052-3A956F6A7E4C}"/>
              </a:ext>
            </a:extLst>
          </p:cNvPr>
          <p:cNvSpPr>
            <a:spLocks noGrp="1"/>
          </p:cNvSpPr>
          <p:nvPr/>
        </p:nvSpPr>
        <p:spPr>
          <a:xfrm>
            <a:off x="3179269" y="3555577"/>
            <a:ext cx="2122135" cy="104905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344D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50">
                <a:solidFill>
                  <a:srgbClr val="344D41"/>
                </a:solidFill>
                <a:latin typeface="Bitstream Charter"/>
                <a:ea typeface="Bitstream Charter"/>
                <a:cs typeface="Bitstream Charter"/>
              </a:rPr>
              <a:t>Un tercero invierte en el sistema. Pagas la energía solar suministrada a una tarifa pactada.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B30F1DD-3AB4-4518-9CA8-87A9DAF8AACC}"/>
              </a:ext>
            </a:extLst>
          </p:cNvPr>
          <p:cNvSpPr>
            <a:spLocks noGrp="1"/>
          </p:cNvSpPr>
          <p:nvPr/>
        </p:nvSpPr>
        <p:spPr>
          <a:xfrm>
            <a:off x="3179268" y="4748777"/>
            <a:ext cx="2114127" cy="5365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1736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35">
                <a:solidFill>
                  <a:srgbClr val="617366"/>
                </a:solidFill>
                <a:latin typeface="Bitstream Charter"/>
                <a:ea typeface="Bitstream Charter"/>
                <a:cs typeface="Bitstream Charter"/>
              </a:rPr>
              <a:t>Plazo y condiciones por contrato.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3C5A58B-DD71-4DEB-8007-92733B5994AB}"/>
              </a:ext>
            </a:extLst>
          </p:cNvPr>
          <p:cNvSpPr>
            <a:spLocks noGrp="1"/>
          </p:cNvSpPr>
          <p:nvPr/>
        </p:nvSpPr>
        <p:spPr>
          <a:xfrm>
            <a:off x="5605710" y="1737748"/>
            <a:ext cx="2082094" cy="720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400" b="1">
                <a:solidFill>
                  <a:srgbClr val="B2BF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540" b="1" dirty="0">
                <a:solidFill>
                  <a:schemeClr val="accent3">
                    <a:lumMod val="75000"/>
                  </a:schemeClr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7A9EF37-0B88-43FB-B4A8-A522DB298A69}"/>
              </a:ext>
            </a:extLst>
          </p:cNvPr>
          <p:cNvSpPr>
            <a:spLocks noGrp="1"/>
          </p:cNvSpPr>
          <p:nvPr/>
        </p:nvSpPr>
        <p:spPr>
          <a:xfrm>
            <a:off x="5605710" y="2650667"/>
            <a:ext cx="2178191" cy="36036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73E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29" b="1">
                <a:solidFill>
                  <a:srgbClr val="173E32"/>
                </a:solidFill>
                <a:latin typeface="Bitstream Charter"/>
                <a:ea typeface="Bitstream Charter"/>
                <a:cs typeface="Bitstream Charter"/>
              </a:rPr>
              <a:t>Crédito Verde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A5744D8-32F9-4678-A162-028CA388B61D}"/>
              </a:ext>
            </a:extLst>
          </p:cNvPr>
          <p:cNvSpPr>
            <a:spLocks noGrp="1"/>
          </p:cNvSpPr>
          <p:nvPr/>
        </p:nvSpPr>
        <p:spPr>
          <a:xfrm>
            <a:off x="5605710" y="3115134"/>
            <a:ext cx="2178191" cy="31231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5E7F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50" b="1">
                <a:solidFill>
                  <a:srgbClr val="5E7F25"/>
                </a:solidFill>
                <a:latin typeface="Bitstream Charter"/>
                <a:ea typeface="Bitstream Charter"/>
                <a:cs typeface="Bitstream Charter"/>
              </a:rPr>
              <a:t>Financiación bancaria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62DD812-0BF9-4584-B789-11F37AC720E8}"/>
              </a:ext>
            </a:extLst>
          </p:cNvPr>
          <p:cNvSpPr>
            <a:spLocks noGrp="1"/>
          </p:cNvSpPr>
          <p:nvPr/>
        </p:nvSpPr>
        <p:spPr>
          <a:xfrm>
            <a:off x="5605710" y="3555577"/>
            <a:ext cx="2122135" cy="104905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344D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50">
                <a:solidFill>
                  <a:srgbClr val="344D41"/>
                </a:solidFill>
                <a:latin typeface="Bitstream Charter"/>
                <a:ea typeface="Bitstream Charter"/>
                <a:cs typeface="Bitstream Charter"/>
              </a:rPr>
              <a:t>Financias la compra del sistema y pagas el crédito en cuotas durante el plazo acordado.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9BBC3D2-1BBB-46F9-B948-2B8ECFB98898}"/>
              </a:ext>
            </a:extLst>
          </p:cNvPr>
          <p:cNvSpPr>
            <a:spLocks noGrp="1"/>
          </p:cNvSpPr>
          <p:nvPr/>
        </p:nvSpPr>
        <p:spPr>
          <a:xfrm>
            <a:off x="5605709" y="4748777"/>
            <a:ext cx="2114127" cy="5365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1736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35">
                <a:solidFill>
                  <a:srgbClr val="617366"/>
                </a:solidFill>
                <a:latin typeface="Bitstream Charter"/>
                <a:ea typeface="Bitstream Charter"/>
                <a:cs typeface="Bitstream Charter"/>
              </a:rPr>
              <a:t>Sujeto a aprobación de la entidad.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73E763E-4540-4EB0-A94F-ADCC966BA33A}"/>
              </a:ext>
            </a:extLst>
          </p:cNvPr>
          <p:cNvSpPr>
            <a:spLocks noGrp="1"/>
          </p:cNvSpPr>
          <p:nvPr/>
        </p:nvSpPr>
        <p:spPr>
          <a:xfrm>
            <a:off x="8032151" y="1737748"/>
            <a:ext cx="2082094" cy="720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400" b="1">
                <a:solidFill>
                  <a:srgbClr val="80A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540" b="1">
                <a:solidFill>
                  <a:srgbClr val="80A735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A6B8033-3ED0-428F-A57B-9B1938487465}"/>
              </a:ext>
            </a:extLst>
          </p:cNvPr>
          <p:cNvSpPr>
            <a:spLocks noGrp="1"/>
          </p:cNvSpPr>
          <p:nvPr/>
        </p:nvSpPr>
        <p:spPr>
          <a:xfrm>
            <a:off x="8032150" y="2537778"/>
            <a:ext cx="2470750" cy="32032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73E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29" b="1" dirty="0">
                <a:solidFill>
                  <a:srgbClr val="173E32"/>
                </a:solidFill>
                <a:latin typeface="Bitstream Charter"/>
                <a:ea typeface="Bitstream Charter"/>
                <a:cs typeface="Bitstream Charter"/>
              </a:rPr>
              <a:t>Fondo</a:t>
            </a:r>
            <a:r>
              <a:rPr lang="es-ES" sz="1829" b="1" dirty="0">
                <a:solidFill>
                  <a:srgbClr val="173E32"/>
                </a:solidFill>
                <a:latin typeface="Bitstream Charter"/>
                <a:ea typeface="Bitstream Charter"/>
                <a:cs typeface="Bitstream Charter"/>
              </a:rPr>
              <a:t> Especializados</a:t>
            </a:r>
            <a:r>
              <a:rPr sz="1829" b="1" dirty="0">
                <a:solidFill>
                  <a:srgbClr val="173E32"/>
                </a:solidFill>
                <a:latin typeface="Bitstream Charter"/>
                <a:ea typeface="Bitstream Charter"/>
                <a:cs typeface="Bitstream Charter"/>
              </a:rPr>
              <a:t> ROCASOL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B0D3E4B-4C5E-4DB3-B6A8-FFD24D184F29}"/>
              </a:ext>
            </a:extLst>
          </p:cNvPr>
          <p:cNvSpPr>
            <a:spLocks noGrp="1"/>
          </p:cNvSpPr>
          <p:nvPr/>
        </p:nvSpPr>
        <p:spPr>
          <a:xfrm>
            <a:off x="8032150" y="3115134"/>
            <a:ext cx="2178191" cy="31231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5E7F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50" b="1">
                <a:solidFill>
                  <a:srgbClr val="5E7F25"/>
                </a:solidFill>
                <a:latin typeface="Bitstream Charter"/>
                <a:ea typeface="Bitstream Charter"/>
                <a:cs typeface="Bitstream Charter"/>
              </a:rPr>
              <a:t>0 inversión inicial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A93515E-59E6-4594-8C65-902220DAB447}"/>
              </a:ext>
            </a:extLst>
          </p:cNvPr>
          <p:cNvSpPr>
            <a:spLocks noGrp="1"/>
          </p:cNvSpPr>
          <p:nvPr/>
        </p:nvSpPr>
        <p:spPr>
          <a:xfrm>
            <a:off x="8032151" y="3555577"/>
            <a:ext cx="2122135" cy="104905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344D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50">
                <a:solidFill>
                  <a:srgbClr val="344D41"/>
                </a:solidFill>
                <a:latin typeface="Bitstream Charter"/>
                <a:ea typeface="Bitstream Charter"/>
                <a:cs typeface="Bitstream Charter"/>
              </a:rPr>
              <a:t>Accedes a una alternativa para implementar el sistema sin inversión inicial del cliente.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75A1568-F8BB-4F59-A071-8995E720BD4E}"/>
              </a:ext>
            </a:extLst>
          </p:cNvPr>
          <p:cNvSpPr>
            <a:spLocks noGrp="1"/>
          </p:cNvSpPr>
          <p:nvPr/>
        </p:nvSpPr>
        <p:spPr>
          <a:xfrm>
            <a:off x="8032150" y="4748777"/>
            <a:ext cx="2114127" cy="5365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1736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35">
                <a:solidFill>
                  <a:srgbClr val="617366"/>
                </a:solidFill>
                <a:latin typeface="Bitstream Charter"/>
                <a:ea typeface="Bitstream Charter"/>
                <a:cs typeface="Bitstream Charter"/>
              </a:rPr>
              <a:t>Pagos y condiciones según el fondo.</a:t>
            </a:r>
          </a:p>
        </p:txBody>
      </p:sp>
    </p:spTree>
    <p:extLst>
      <p:ext uri="{BB962C8B-B14F-4D97-AF65-F5344CB8AC3E}">
        <p14:creationId xmlns:p14="http://schemas.microsoft.com/office/powerpoint/2010/main" val="1858111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3CE3D-F496-F8F7-FE0A-4D123C1DA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F51BA563-2A6D-614E-FAF4-0AE88C10F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584313"/>
              </p:ext>
            </p:extLst>
          </p:nvPr>
        </p:nvGraphicFramePr>
        <p:xfrm>
          <a:off x="258113" y="444500"/>
          <a:ext cx="9969499" cy="2753993"/>
        </p:xfrm>
        <a:graphic>
          <a:graphicData uri="http://schemas.openxmlformats.org/drawingml/2006/table">
            <a:tbl>
              <a:tblPr firstRow="1" firstCol="1" bandRow="1"/>
              <a:tblGrid>
                <a:gridCol w="1663700">
                  <a:extLst>
                    <a:ext uri="{9D8B030D-6E8A-4147-A177-3AD203B41FA5}">
                      <a16:colId xmlns:a16="http://schemas.microsoft.com/office/drawing/2014/main" val="242062564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3328736690"/>
                    </a:ext>
                  </a:extLst>
                </a:gridCol>
                <a:gridCol w="1009707">
                  <a:extLst>
                    <a:ext uri="{9D8B030D-6E8A-4147-A177-3AD203B41FA5}">
                      <a16:colId xmlns:a16="http://schemas.microsoft.com/office/drawing/2014/main" val="4040680592"/>
                    </a:ext>
                  </a:extLst>
                </a:gridCol>
                <a:gridCol w="2114492">
                  <a:extLst>
                    <a:ext uri="{9D8B030D-6E8A-4147-A177-3AD203B41FA5}">
                      <a16:colId xmlns:a16="http://schemas.microsoft.com/office/drawing/2014/main" val="1000179724"/>
                    </a:ext>
                  </a:extLst>
                </a:gridCol>
              </a:tblGrid>
              <a:tr h="416866">
                <a:tc gridSpan="4">
                  <a:txBody>
                    <a:bodyPr/>
                    <a:lstStyle/>
                    <a:p>
                      <a:pPr algn="ctr"/>
                      <a:r>
                        <a:rPr lang="es-CO" sz="2800" b="1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PAGO DIRECTO</a:t>
                      </a:r>
                      <a:endParaRPr lang="es-CO" sz="3600" dirty="0"/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01376865"/>
                  </a:ext>
                </a:extLst>
              </a:tr>
              <a:tr h="157057">
                <a:tc gridSpan="4">
                  <a:txBody>
                    <a:bodyPr/>
                    <a:lstStyle/>
                    <a:p>
                      <a:endParaRPr lang="es-CO" sz="1050" dirty="0">
                        <a:effectLst/>
                        <a:latin typeface="Liberation Serif"/>
                      </a:endParaRPr>
                    </a:p>
                  </a:txBody>
                  <a:tcPr marL="11919" marR="11919" marT="120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99238480"/>
                  </a:ext>
                </a:extLst>
              </a:tr>
              <a:tr h="427071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b="1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ECONÓMICO</a:t>
                      </a:r>
                      <a:endParaRPr lang="es-CO" sz="1600" dirty="0">
                        <a:solidFill>
                          <a:schemeClr val="bg1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 Inversión 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640" marR="1640" marT="16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r>
                        <a:rPr lang="es-ES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</a:rPr>
                        <a:t>$ 60.100.000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640" marR="1640" marT="164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70524855"/>
                  </a:ext>
                </a:extLst>
              </a:tr>
              <a:tr h="27918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(TIR) - Rentabilidad de la Inversión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45.3 %</a:t>
                      </a:r>
                      <a:endParaRPr lang="es-CO" sz="1400" dirty="0"/>
                    </a:p>
                  </a:txBody>
                  <a:tcPr marL="11919" marR="11919" marT="1203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77070266"/>
                  </a:ext>
                </a:extLst>
              </a:tr>
              <a:tr h="26661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Tiempo de recuperación de la Inversión 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2.7 años</a:t>
                      </a:r>
                      <a:endParaRPr lang="es-CO" sz="1400" dirty="0"/>
                    </a:p>
                  </a:txBody>
                  <a:tcPr marL="11919" marR="11919" marT="1203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45245097"/>
                  </a:ext>
                </a:extLst>
              </a:tr>
              <a:tr h="38910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Ahorro anual en energía eléctrica (autoconsumo)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$ 22,800,000</a:t>
                      </a:r>
                      <a:endParaRPr lang="es-CO" sz="1400" dirty="0"/>
                    </a:p>
                  </a:txBody>
                  <a:tcPr marL="11919" marR="11919" marT="1203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70333546"/>
                  </a:ext>
                </a:extLst>
              </a:tr>
              <a:tr h="8028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b="1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AMBIENTAL</a:t>
                      </a:r>
                      <a:endParaRPr lang="es-CO" sz="1600" dirty="0">
                        <a:solidFill>
                          <a:schemeClr val="bg1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Emisiones de CO2 Mitigado al año        =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3 ton      =  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Century Gothic" panose="020B0502020202020204" pitchFamily="34" charset="0"/>
                        <a:ea typeface="Arial Unicode MS"/>
                        <a:cs typeface="Arial Unicode MS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159 x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s-CO" sz="1200" dirty="0">
                        <a:solidFill>
                          <a:srgbClr val="00000A"/>
                        </a:solidFill>
                        <a:effectLst/>
                        <a:latin typeface="Century Gothic" panose="020B0502020202020204" pitchFamily="34" charset="0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683391"/>
                  </a:ext>
                </a:extLst>
              </a:tr>
            </a:tbl>
          </a:graphicData>
        </a:graphic>
      </p:graphicFrame>
      <p:pic>
        <p:nvPicPr>
          <p:cNvPr id="8" name="Imagen 11">
            <a:extLst>
              <a:ext uri="{FF2B5EF4-FFF2-40B4-BE49-F238E27FC236}">
                <a16:creationId xmlns:a16="http://schemas.microsoft.com/office/drawing/2014/main" id="{AE4311E4-5759-1337-B904-F83C25711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2300" y="2501900"/>
            <a:ext cx="562912" cy="630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4 Gráfico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3902766"/>
              </p:ext>
            </p:extLst>
          </p:nvPr>
        </p:nvGraphicFramePr>
        <p:xfrm>
          <a:off x="1206500" y="3215339"/>
          <a:ext cx="7729522" cy="2550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44525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CC5D5F-FD34-43D3-CC74-17ED9DD66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757141F3-4ADC-5484-2384-5E3032B10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527016"/>
              </p:ext>
            </p:extLst>
          </p:nvPr>
        </p:nvGraphicFramePr>
        <p:xfrm>
          <a:off x="258113" y="444500"/>
          <a:ext cx="9969499" cy="2753993"/>
        </p:xfrm>
        <a:graphic>
          <a:graphicData uri="http://schemas.openxmlformats.org/drawingml/2006/table">
            <a:tbl>
              <a:tblPr firstRow="1" firstCol="1" bandRow="1"/>
              <a:tblGrid>
                <a:gridCol w="1663700">
                  <a:extLst>
                    <a:ext uri="{9D8B030D-6E8A-4147-A177-3AD203B41FA5}">
                      <a16:colId xmlns:a16="http://schemas.microsoft.com/office/drawing/2014/main" val="242062564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3328736690"/>
                    </a:ext>
                  </a:extLst>
                </a:gridCol>
                <a:gridCol w="1009707">
                  <a:extLst>
                    <a:ext uri="{9D8B030D-6E8A-4147-A177-3AD203B41FA5}">
                      <a16:colId xmlns:a16="http://schemas.microsoft.com/office/drawing/2014/main" val="4040680592"/>
                    </a:ext>
                  </a:extLst>
                </a:gridCol>
                <a:gridCol w="2114492">
                  <a:extLst>
                    <a:ext uri="{9D8B030D-6E8A-4147-A177-3AD203B41FA5}">
                      <a16:colId xmlns:a16="http://schemas.microsoft.com/office/drawing/2014/main" val="1000179724"/>
                    </a:ext>
                  </a:extLst>
                </a:gridCol>
              </a:tblGrid>
              <a:tr h="416866">
                <a:tc gridSpan="4">
                  <a:txBody>
                    <a:bodyPr/>
                    <a:lstStyle/>
                    <a:p>
                      <a:pPr algn="ctr"/>
                      <a:r>
                        <a:rPr lang="es-CO" sz="2800" b="1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CREDITO VERDE</a:t>
                      </a:r>
                      <a:endParaRPr lang="es-CO" sz="3600" dirty="0"/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01376865"/>
                  </a:ext>
                </a:extLst>
              </a:tr>
              <a:tr h="157057">
                <a:tc gridSpan="4">
                  <a:txBody>
                    <a:bodyPr/>
                    <a:lstStyle/>
                    <a:p>
                      <a:endParaRPr lang="es-CO" sz="1050" dirty="0">
                        <a:effectLst/>
                        <a:latin typeface="Liberation Serif"/>
                      </a:endParaRPr>
                    </a:p>
                  </a:txBody>
                  <a:tcPr marL="11919" marR="11919" marT="120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99238480"/>
                  </a:ext>
                </a:extLst>
              </a:tr>
              <a:tr h="427071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b="1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ECONÓMICO</a:t>
                      </a:r>
                      <a:endParaRPr lang="es-CO" sz="1600" dirty="0">
                        <a:solidFill>
                          <a:schemeClr val="bg1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Cuota Crédito (Tasa Mensual: 1%, 60 meses)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640" marR="1640" marT="16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r>
                        <a:rPr lang="es-ES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</a:rPr>
                        <a:t>$ 1.340.000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640" marR="1640" marT="164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70524855"/>
                  </a:ext>
                </a:extLst>
              </a:tr>
              <a:tr h="27918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(TIR) - Rentabilidad de la Inversión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&gt; 100%</a:t>
                      </a:r>
                      <a:endParaRPr lang="es-CO" sz="1400" dirty="0"/>
                    </a:p>
                  </a:txBody>
                  <a:tcPr marL="11919" marR="11919" marT="1203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77070266"/>
                  </a:ext>
                </a:extLst>
              </a:tr>
              <a:tr h="26661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Tiempo de recuperación de la Inversión 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&lt; 1 año</a:t>
                      </a:r>
                      <a:endParaRPr lang="es-CO" sz="1400" dirty="0"/>
                    </a:p>
                  </a:txBody>
                  <a:tcPr marL="11919" marR="11919" marT="1203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45245097"/>
                  </a:ext>
                </a:extLst>
              </a:tr>
              <a:tr h="38910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Ahorro anual en energía eléctrica (autoconsumo)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$ 22,800,000</a:t>
                      </a:r>
                      <a:endParaRPr lang="es-CO" sz="1400" dirty="0"/>
                    </a:p>
                  </a:txBody>
                  <a:tcPr marL="11919" marR="11919" marT="1203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70333546"/>
                  </a:ext>
                </a:extLst>
              </a:tr>
              <a:tr h="8028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b="1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AMBIENTAL</a:t>
                      </a:r>
                      <a:endParaRPr lang="es-CO" sz="1600" dirty="0">
                        <a:solidFill>
                          <a:schemeClr val="bg1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Emisiones de CO2 Mitigado al año        =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3 ton      =  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Century Gothic" panose="020B0502020202020204" pitchFamily="34" charset="0"/>
                        <a:ea typeface="Arial Unicode MS"/>
                        <a:cs typeface="Arial Unicode MS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159 x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s-CO" sz="1200" dirty="0">
                        <a:solidFill>
                          <a:srgbClr val="00000A"/>
                        </a:solidFill>
                        <a:effectLst/>
                        <a:latin typeface="Century Gothic" panose="020B0502020202020204" pitchFamily="34" charset="0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683391"/>
                  </a:ext>
                </a:extLst>
              </a:tr>
            </a:tbl>
          </a:graphicData>
        </a:graphic>
      </p:graphicFrame>
      <p:pic>
        <p:nvPicPr>
          <p:cNvPr id="8" name="Imagen 11">
            <a:extLst>
              <a:ext uri="{FF2B5EF4-FFF2-40B4-BE49-F238E27FC236}">
                <a16:creationId xmlns:a16="http://schemas.microsoft.com/office/drawing/2014/main" id="{4981C412-3CA9-BCE0-FA37-2492A4CBE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2300" y="2501900"/>
            <a:ext cx="562912" cy="630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4 Gráfico">
            <a:extLst>
              <a:ext uri="{FF2B5EF4-FFF2-40B4-BE49-F238E27FC236}">
                <a16:creationId xmlns:a16="http://schemas.microsoft.com/office/drawing/2014/main" id="{82B6045A-E6C5-452E-8318-3EEBB48BE4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3319177"/>
              </p:ext>
            </p:extLst>
          </p:nvPr>
        </p:nvGraphicFramePr>
        <p:xfrm>
          <a:off x="1737662" y="3198493"/>
          <a:ext cx="7010400" cy="2884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37846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715F0E-1633-BF77-48A1-139DCE936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09BEAD35-068A-4030-5B05-776A70D67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952695"/>
              </p:ext>
            </p:extLst>
          </p:nvPr>
        </p:nvGraphicFramePr>
        <p:xfrm>
          <a:off x="258113" y="444500"/>
          <a:ext cx="9969499" cy="2753993"/>
        </p:xfrm>
        <a:graphic>
          <a:graphicData uri="http://schemas.openxmlformats.org/drawingml/2006/table">
            <a:tbl>
              <a:tblPr firstRow="1" firstCol="1" bandRow="1"/>
              <a:tblGrid>
                <a:gridCol w="1663700">
                  <a:extLst>
                    <a:ext uri="{9D8B030D-6E8A-4147-A177-3AD203B41FA5}">
                      <a16:colId xmlns:a16="http://schemas.microsoft.com/office/drawing/2014/main" val="2420625641"/>
                    </a:ext>
                  </a:extLst>
                </a:gridCol>
                <a:gridCol w="5761687">
                  <a:extLst>
                    <a:ext uri="{9D8B030D-6E8A-4147-A177-3AD203B41FA5}">
                      <a16:colId xmlns:a16="http://schemas.microsoft.com/office/drawing/2014/main" val="3328736690"/>
                    </a:ext>
                  </a:extLst>
                </a:gridCol>
                <a:gridCol w="429620">
                  <a:extLst>
                    <a:ext uri="{9D8B030D-6E8A-4147-A177-3AD203B41FA5}">
                      <a16:colId xmlns:a16="http://schemas.microsoft.com/office/drawing/2014/main" val="4040680592"/>
                    </a:ext>
                  </a:extLst>
                </a:gridCol>
                <a:gridCol w="2114492">
                  <a:extLst>
                    <a:ext uri="{9D8B030D-6E8A-4147-A177-3AD203B41FA5}">
                      <a16:colId xmlns:a16="http://schemas.microsoft.com/office/drawing/2014/main" val="1000179724"/>
                    </a:ext>
                  </a:extLst>
                </a:gridCol>
              </a:tblGrid>
              <a:tr h="416866">
                <a:tc gridSpan="4">
                  <a:txBody>
                    <a:bodyPr/>
                    <a:lstStyle/>
                    <a:p>
                      <a:pPr algn="ctr"/>
                      <a:r>
                        <a:rPr lang="es-CO" sz="2800" b="1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PPA – Pago Por Ahorro</a:t>
                      </a:r>
                      <a:endParaRPr lang="es-CO" sz="3600" dirty="0"/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01376865"/>
                  </a:ext>
                </a:extLst>
              </a:tr>
              <a:tr h="157057">
                <a:tc gridSpan="4">
                  <a:txBody>
                    <a:bodyPr/>
                    <a:lstStyle/>
                    <a:p>
                      <a:endParaRPr lang="es-CO" sz="1050" dirty="0">
                        <a:effectLst/>
                        <a:latin typeface="Liberation Serif"/>
                      </a:endParaRPr>
                    </a:p>
                  </a:txBody>
                  <a:tcPr marL="11919" marR="11919" marT="120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99238480"/>
                  </a:ext>
                </a:extLst>
              </a:tr>
              <a:tr h="427071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b="1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ECONÓMICO</a:t>
                      </a:r>
                      <a:endParaRPr lang="es-CO" sz="1600" dirty="0">
                        <a:solidFill>
                          <a:schemeClr val="bg1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Inversión 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Century Gothic" panose="020B0502020202020204" pitchFamily="34" charset="0"/>
                        <a:ea typeface="Arial Unicode MS"/>
                        <a:cs typeface="Arial Unicode MS"/>
                      </a:endParaRPr>
                    </a:p>
                  </a:txBody>
                  <a:tcPr marL="1640" marR="1640" marT="16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1750" algn="ctr">
                        <a:lnSpc>
                          <a:spcPct val="115000"/>
                        </a:lnSpc>
                        <a:buNone/>
                      </a:pPr>
                      <a:r>
                        <a:rPr lang="es-ES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$ 0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1640" marR="1640" marT="164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70524855"/>
                  </a:ext>
                </a:extLst>
              </a:tr>
              <a:tr h="27918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(TIR) - Rentabilidad de la Inversión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&gt; 100%</a:t>
                      </a:r>
                      <a:endParaRPr lang="es-CO" sz="1400" dirty="0"/>
                    </a:p>
                  </a:txBody>
                  <a:tcPr marL="11919" marR="11919" marT="1203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77070266"/>
                  </a:ext>
                </a:extLst>
              </a:tr>
              <a:tr h="26661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Tiempo de recuperación de la Inversión 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&lt; 1 año</a:t>
                      </a:r>
                      <a:endParaRPr lang="es-CO" sz="1400" dirty="0"/>
                    </a:p>
                  </a:txBody>
                  <a:tcPr marL="11919" marR="11919" marT="1203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45245097"/>
                  </a:ext>
                </a:extLst>
              </a:tr>
              <a:tr h="38910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Ahorro anual en energía eléctrica (autoconsumo) – PPA 10 años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$ 4.560.000</a:t>
                      </a:r>
                      <a:endParaRPr lang="es-CO" sz="1400" dirty="0"/>
                    </a:p>
                  </a:txBody>
                  <a:tcPr marL="11919" marR="11919" marT="1203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70333546"/>
                  </a:ext>
                </a:extLst>
              </a:tr>
              <a:tr h="8028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600" b="1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AMBIENTAL</a:t>
                      </a:r>
                      <a:endParaRPr lang="es-CO" sz="1600" dirty="0">
                        <a:solidFill>
                          <a:schemeClr val="bg1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Emisiones de CO2 Mitigado al año        =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3 ton      =  </a:t>
                      </a: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CO" sz="1400" dirty="0">
                        <a:solidFill>
                          <a:srgbClr val="00000A"/>
                        </a:solidFill>
                        <a:effectLst/>
                        <a:latin typeface="Century Gothic" panose="020B0502020202020204" pitchFamily="34" charset="0"/>
                        <a:ea typeface="Arial Unicode MS"/>
                        <a:cs typeface="Arial Unicode MS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159 x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s-CO" sz="1200" dirty="0">
                        <a:solidFill>
                          <a:srgbClr val="00000A"/>
                        </a:solidFill>
                        <a:effectLst/>
                        <a:latin typeface="Century Gothic" panose="020B0502020202020204" pitchFamily="34" charset="0"/>
                        <a:ea typeface="Arial Unicode MS"/>
                        <a:cs typeface="Arial Unicode MS"/>
                      </a:endParaRPr>
                    </a:p>
                  </a:txBody>
                  <a:tcPr marL="11919" marR="11919" marT="1203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683391"/>
                  </a:ext>
                </a:extLst>
              </a:tr>
            </a:tbl>
          </a:graphicData>
        </a:graphic>
      </p:graphicFrame>
      <p:pic>
        <p:nvPicPr>
          <p:cNvPr id="8" name="Imagen 11">
            <a:extLst>
              <a:ext uri="{FF2B5EF4-FFF2-40B4-BE49-F238E27FC236}">
                <a16:creationId xmlns:a16="http://schemas.microsoft.com/office/drawing/2014/main" id="{9BF9D4E0-72C4-DFB2-B546-19459D824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2300" y="2501900"/>
            <a:ext cx="562912" cy="630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4 Gráfico">
            <a:extLst>
              <a:ext uri="{FF2B5EF4-FFF2-40B4-BE49-F238E27FC236}">
                <a16:creationId xmlns:a16="http://schemas.microsoft.com/office/drawing/2014/main" id="{3A246FD6-9F95-4981-8CDD-D69EF9F113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7278167"/>
              </p:ext>
            </p:extLst>
          </p:nvPr>
        </p:nvGraphicFramePr>
        <p:xfrm>
          <a:off x="1652023" y="3272367"/>
          <a:ext cx="7490954" cy="24807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40738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11A715-68E0-C774-ADB1-4E65C6475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8146E838-E088-EA96-3ABE-8F04B1B8C2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00481"/>
              </p:ext>
            </p:extLst>
          </p:nvPr>
        </p:nvGraphicFramePr>
        <p:xfrm>
          <a:off x="412750" y="215900"/>
          <a:ext cx="9969499" cy="609600"/>
        </p:xfrm>
        <a:graphic>
          <a:graphicData uri="http://schemas.openxmlformats.org/drawingml/2006/table">
            <a:tbl>
              <a:tblPr firstRow="1" firstCol="1" bandRow="1"/>
              <a:tblGrid>
                <a:gridCol w="9969499">
                  <a:extLst>
                    <a:ext uri="{9D8B030D-6E8A-4147-A177-3AD203B41FA5}">
                      <a16:colId xmlns:a16="http://schemas.microsoft.com/office/drawing/2014/main" val="242062564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800" b="1" dirty="0">
                          <a:solidFill>
                            <a:srgbClr val="00000A"/>
                          </a:solidFill>
                          <a:effectLst/>
                          <a:latin typeface="Century Gothic" panose="020B0502020202020204" pitchFamily="34" charset="0"/>
                          <a:ea typeface="Arial Unicode MS"/>
                          <a:cs typeface="Arial Unicode MS"/>
                        </a:rPr>
                        <a:t>FONDOS ESPECIALIZADOS </a:t>
                      </a:r>
                    </a:p>
                  </a:txBody>
                  <a:tcPr marL="11919" marR="11919" marT="12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1376865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05FE8EEF-31F7-DDDF-D4AA-8927CE908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300" y="957342"/>
            <a:ext cx="4984135" cy="21336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B0226D9-4AB8-6566-E74F-6C939158A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092" y="3146584"/>
            <a:ext cx="6432550" cy="2327116"/>
          </a:xfrm>
          <a:prstGeom prst="rect">
            <a:avLst/>
          </a:prstGeom>
        </p:spPr>
      </p:pic>
      <p:pic>
        <p:nvPicPr>
          <p:cNvPr id="9" name="Imagen 8" descr="Rocasol | Soluciones Solares Simples">
            <a:extLst>
              <a:ext uri="{FF2B5EF4-FFF2-40B4-BE49-F238E27FC236}">
                <a16:creationId xmlns:a16="http://schemas.microsoft.com/office/drawing/2014/main" id="{7F9A5CD5-D609-6702-292F-D20BA52AF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" y="2555470"/>
            <a:ext cx="3689350" cy="65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729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31">
            <a:extLst>
              <a:ext uri="{FF2B5EF4-FFF2-40B4-BE49-F238E27FC236}">
                <a16:creationId xmlns:a16="http://schemas.microsoft.com/office/drawing/2014/main" id="{C49AA058-A2CD-4FE5-98DD-C79579929E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50"/>
          <a:stretch/>
        </p:blipFill>
        <p:spPr>
          <a:xfrm>
            <a:off x="-6561" y="0"/>
            <a:ext cx="12198561" cy="685800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C69F7C45-AE75-4B8B-BEAB-0893A3F45EF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0" y="-24892"/>
            <a:ext cx="12192000" cy="6858000"/>
          </a:xfrm>
          <a:prstGeom prst="rect">
            <a:avLst/>
          </a:prstGeom>
        </p:spPr>
      </p:pic>
      <p:sp>
        <p:nvSpPr>
          <p:cNvPr id="4" name="6 Rectángulo">
            <a:extLst>
              <a:ext uri="{FF2B5EF4-FFF2-40B4-BE49-F238E27FC236}">
                <a16:creationId xmlns:a16="http://schemas.microsoft.com/office/drawing/2014/main" id="{82DFBEEF-CDD4-4F1E-9A86-E195C9512544}"/>
              </a:ext>
            </a:extLst>
          </p:cNvPr>
          <p:cNvSpPr/>
          <p:nvPr/>
        </p:nvSpPr>
        <p:spPr>
          <a:xfrm>
            <a:off x="2501900" y="1865511"/>
            <a:ext cx="8790547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  <a:r>
              <a:rPr lang="es-CO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CONTACTOS:</a:t>
            </a:r>
          </a:p>
          <a:p>
            <a:endParaRPr lang="es-CO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s-CO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ING. ESTEBAN VARGAS ÁNGEL</a:t>
            </a:r>
            <a:br>
              <a:rPr lang="es-CO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Gerente</a:t>
            </a:r>
          </a:p>
          <a:p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s-CO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Mail: </a:t>
            </a: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gerente@</a:t>
            </a:r>
            <a:r>
              <a:rPr lang="es-CO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gsv</a:t>
            </a: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ingenieria.com</a:t>
            </a:r>
            <a:br>
              <a:rPr lang="es-CO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s-CO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Móvil: </a:t>
            </a: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315-2871958</a:t>
            </a:r>
          </a:p>
          <a:p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  <a:p>
            <a:endParaRPr lang="es-CO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1B9354BE-0ED9-41D3-97FA-FCB3524EF961}"/>
              </a:ext>
            </a:extLst>
          </p:cNvPr>
          <p:cNvSpPr/>
          <p:nvPr/>
        </p:nvSpPr>
        <p:spPr>
          <a:xfrm>
            <a:off x="673100" y="1106048"/>
            <a:ext cx="2564372" cy="3665421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50F635-68F1-7C5D-7D2F-3BA763C8D3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398" y="847074"/>
            <a:ext cx="4183368" cy="418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313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961</Words>
  <Application>Microsoft Office PowerPoint</Application>
  <PresentationFormat>Personalizado</PresentationFormat>
  <Paragraphs>135</Paragraphs>
  <Slides>22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Arial</vt:lpstr>
      <vt:lpstr>Bitstream Charter</vt:lpstr>
      <vt:lpstr>Calibri</vt:lpstr>
      <vt:lpstr>Century Gothic</vt:lpstr>
      <vt:lpstr>Liberation Serif</vt:lpstr>
      <vt:lpstr>Office Theme</vt:lpstr>
      <vt:lpstr>Presentación de PowerPoint</vt:lpstr>
      <vt:lpstr>Presentación de PowerPoint</vt:lpstr>
      <vt:lpstr>Presentación de PowerPoint</vt:lpstr>
      <vt:lpstr>Sistemas Solares Fotovoltaicos</vt:lpstr>
      <vt:lpstr>La irradiancia solar</vt:lpstr>
      <vt:lpstr>La irradiación solar</vt:lpstr>
      <vt:lpstr>Presentación de PowerPoint</vt:lpstr>
      <vt:lpstr>Presentación de PowerPoint</vt:lpstr>
      <vt:lpstr>Presentación de PowerPoint</vt:lpstr>
      <vt:lpstr>Presentación de PowerPoint</vt:lpstr>
      <vt:lpstr>LEY 1715 -2014 DE ENERGIAS RENOVABLES</vt:lpstr>
      <vt:lpstr>EJEMPLO REAL (Escuela Cristo Rey)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Esteban Vargas</dc:creator>
  <cp:lastModifiedBy>user</cp:lastModifiedBy>
  <cp:revision>5</cp:revision>
  <dcterms:created xsi:type="dcterms:W3CDTF">2021-09-30T22:41:49Z</dcterms:created>
  <dcterms:modified xsi:type="dcterms:W3CDTF">2026-10-08T19:58:00Z</dcterms:modified>
</cp:coreProperties>
</file>